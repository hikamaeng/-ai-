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Relationship Id="rId3" Type="http://schemas.openxmlformats.org/officeDocument/2006/relationships/image" Target="../media/image1.gif"/><Relationship Id="rId4" Type="http://schemas.openxmlformats.org/officeDocument/2006/relationships/image" Target="../media/image3.png"/><Relationship Id="rId5" Type="http://schemas.openxmlformats.org/officeDocument/2006/relationships/image" Target="../media/image6.g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3.png"/><Relationship Id="rId4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500" y="712750"/>
            <a:ext cx="8302200" cy="4344000"/>
          </a:xfrm>
          <a:prstGeom prst="roundRect">
            <a:avLst>
              <a:gd fmla="val 480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67232" t="0"/>
          <a:stretch/>
        </p:blipFill>
        <p:spPr>
          <a:xfrm>
            <a:off x="8167116" y="15200"/>
            <a:ext cx="966500" cy="11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58500" y="-9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58500" y="712750"/>
            <a:ext cx="8302200" cy="43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rbit"/>
              <a:buChar char="●"/>
              <a:defRPr sz="23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●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●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descr="a border of fire on a white background .(Tenor 제공)" id="18" name="Google Shape;18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youtube logo with a white play button on a white background(Tenor 제공)" id="19" name="Google Shape;19;p3"/>
          <p:cNvPicPr preferRelativeResize="0"/>
          <p:nvPr/>
        </p:nvPicPr>
        <p:blipFill rotWithShape="1">
          <a:blip r:embed="rId3">
            <a:alphaModFix/>
          </a:blip>
          <a:srcRect b="0" l="39705" r="0" t="53302"/>
          <a:stretch/>
        </p:blipFill>
        <p:spPr>
          <a:xfrm>
            <a:off x="8789575" y="524542"/>
            <a:ext cx="300000" cy="2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뉴런데브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8327" y="116571"/>
            <a:ext cx="1357125" cy="6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neuron_robot_fast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0777" y="0"/>
            <a:ext cx="587548" cy="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섹션 헤더 1">
  <p:cSld name="SECTION_HEADER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0" y="-68855"/>
            <a:ext cx="7227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67">
                <a:solidFill>
                  <a:srgbClr val="FF704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20650" y="420022"/>
            <a:ext cx="7326300" cy="0"/>
          </a:xfrm>
          <a:prstGeom prst="straightConnector1">
            <a:avLst/>
          </a:prstGeom>
          <a:noFill/>
          <a:ln cap="flat" cmpd="sng" w="9525">
            <a:solidFill>
              <a:srgbClr val="3D484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red youtube logo with a white play button on a white background(Tenor 제공)" id="27" name="Google Shape;27;p4"/>
          <p:cNvPicPr preferRelativeResize="0"/>
          <p:nvPr/>
        </p:nvPicPr>
        <p:blipFill rotWithShape="1">
          <a:blip r:embed="rId2">
            <a:alphaModFix/>
          </a:blip>
          <a:srcRect b="0" l="39705" r="0" t="53302"/>
          <a:stretch/>
        </p:blipFill>
        <p:spPr>
          <a:xfrm>
            <a:off x="8789575" y="524542"/>
            <a:ext cx="300000" cy="2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 title="뉴런데브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327" y="116571"/>
            <a:ext cx="1357125" cy="61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5375" y="375350"/>
            <a:ext cx="9230100" cy="4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861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Roboto Mono Light"/>
              <a:buChar char="●"/>
              <a:defRPr sz="2048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●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●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7671050" y="3669325"/>
            <a:ext cx="1472700" cy="1474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4" title="neuron_robot_fas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0777" y="0"/>
            <a:ext cx="587548" cy="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92704" y="0"/>
            <a:ext cx="375904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1">
  <p:cSld name="TITLE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2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3">
  <p:cSld name="TITLE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4">
  <p:cSld name="TITLE_4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5">
  <p:cSld name="TITLE_5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6">
  <p:cSld name="TITLE_6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7">
  <p:cSld name="TITLE_7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" name="Google Shape;8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8">
  <p:cSld name="TITLE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Relationship Id="rId3" Type="http://schemas.openxmlformats.org/officeDocument/2006/relationships/hyperlink" Target="https://github.com/hikaMaeng/-ai-/tree/main/4%EA%B0%95%EC%8B%A4%EC%8A%B5/sq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ocker-compose.yml" TargetMode="External"/><Relationship Id="rId3" Type="http://schemas.openxmlformats.org/officeDocument/2006/relationships/hyperlink" Target="https://github.com/hikaMaeng/-ai-/tree/main/4%EA%B0%95%EC%8B%A4%EC%8A%B5/db/ini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b/Dockerfile" TargetMode="External"/><Relationship Id="rId3" Type="http://schemas.openxmlformats.org/officeDocument/2006/relationships/hyperlink" Target="https://github.com/hikaMaeng/-ai-/blob/main/4%EA%B0%95%EC%8B%A4%EC%8A%B5/db/init/01_extensions.sq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pgadmin/servers.json" TargetMode="External"/><Relationship Id="rId3" Type="http://schemas.openxmlformats.org/officeDocument/2006/relationships/hyperlink" Target="https://github.com/hikaMaeng/-ai-/blob/main/4%EA%B0%95%EC%8B%A4%EC%8A%B5/docker-compose.y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loader/load.p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loader/load.py" TargetMode="External"/><Relationship Id="rId3" Type="http://schemas.openxmlformats.org/officeDocument/2006/relationships/hyperlink" Target="https://github.com/hikaMaeng/-ai-/blob/main/4%EA%B0%95%EC%8B%A4%EC%8A%B5/db/init/02_schema.sq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0_tokenize.sq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2_ts_rank_cd.sq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3_normalization.sq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4_eval_ts_rank.sq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0_bm25_tables.sq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1_bm25_build.sq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2_bm25_search.sq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3_bm25_triggers.sq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4_bm25_trigger_test.sq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5_eval_all.sq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5_eval_all.sq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5325" y="838600"/>
            <a:ext cx="3730800" cy="8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>
                <a:solidFill>
                  <a:srgbClr val="000000"/>
                </a:solidFill>
                <a:latin typeface="Gugi"/>
                <a:ea typeface="Gugi"/>
                <a:cs typeface="Gugi"/>
              </a:rPr>
              <a:t>뉴런데브클래스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25" y="1630325"/>
            <a:ext cx="9076800" cy="198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700">
                <a:solidFill>
                  <a:srgbClr val="3D484A"/>
                </a:solidFill>
                <a:latin typeface="Gugi"/>
                <a:ea typeface="Gugi"/>
                <a:cs typeface="Gugi"/>
              </a:rPr>
              <a:t>현대 AI의 원리와 구조</a:t>
            </a:r>
            <a:br>
              <a:rPr lang="ko" sz="6700"/>
            </a:br>
            <a:r>
              <a:rPr sz="5000">
                <a:solidFill>
                  <a:srgbClr val="FF6B4A"/>
                </a:solidFill>
                <a:latin typeface="Gugi"/>
                <a:ea typeface="Gugi"/>
                <a:cs typeface="Gugi"/>
              </a:rPr>
              <a:t>#4-1 벡터디비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2175" y="343875"/>
            <a:ext cx="6591900" cy="28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67" b="1">
                <a:solidFill>
                  <a:srgbClr val="FF7043"/>
                </a:solidFill>
                <a:latin typeface="Roboto Mono"/>
                <a:ea typeface="Roboto Mono"/>
                <a:cs typeface="Roboto Mono"/>
              </a:rPr>
              <a:t>목차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1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실습 환경 구성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2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데이터 적재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3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ts_rank 실습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4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BM25 직접 구현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5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종합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1.키워드 검색·BM25를 PG 안에서 직접 구현</a:t>
            </a:r>
            <a:br>
              <a:rPr lang="ko" sz="1648"/>
            </a:br>
            <a:r>
              <a:rPr sz="1648"/>
              <a:t> -한국어 형태소 분석 → ts_rank 계열 → BM25 → 벡터·하이브리드</a:t>
            </a:r>
            <a:br>
              <a:rPr lang="ko" sz="1648"/>
            </a:br>
            <a:r>
              <a:rPr sz="1648"/>
              <a:t> -강의에서 다룬 공식과 PG 동작을 실제 데이터로 확인하고 숫자로 비교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2.준비물은 Docker Desktop 하나</a:t>
            </a:r>
            <a:br>
              <a:rPr lang="ko" sz="1648"/>
            </a:br>
            <a:r>
              <a:rPr sz="1648"/>
              <a:t> -Python·PostgreSQL 설치 불필요, 컴포즈 한 번으로 전체 환경 기동</a:t>
            </a:r>
            <a:br>
              <a:rPr lang="ko" sz="1648"/>
            </a:br>
            <a:r>
              <a:rPr sz="1648"/>
              <a:t> -Intel/AMD · Apple Silicon · Windows ARM 모두 동작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3.모든 코드는 GitHub 저장소를 참조</a:t>
            </a:r>
            <a:br>
              <a:rPr lang="ko" sz="1648"/>
            </a:br>
            <a:r>
              <a:rPr sz="1648"/>
              <a:t> -장표 하단의 파일 링크 → 해당 SQL·설정 파일</a:t>
            </a:r>
            <a:br>
              <a:rPr lang="ko" sz="1648"/>
            </a:br>
            <a:r>
              <a:rPr sz="1648"/>
              <a:t> -SQL 파일 안의 '관찰:' 주석과 실제 결과를 비교하며 진행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4.정답이 있는 한국어 데이터셋으로 검색 품질을 측정</a:t>
            </a:r>
            <a:br>
              <a:rPr lang="ko" sz="1648"/>
            </a:br>
            <a:r>
              <a:rPr sz="1648"/>
              <a:t> -KLUE-MRC: 질문마다 정답 지문 → Hit@10 · MRR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60분 타임테이블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0000" y="820000"/>
          <a:ext cx="8700000" cy="21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7000"/>
                <a:gridCol w="1479000"/>
                <a:gridCol w="3828000"/>
                <a:gridCol w="2436000"/>
              </a:tblGrid>
              <a:tr h="30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하는 일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기다리는 시간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00–10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① 환경 기동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compose up (빌드 동안 Dockerfile 설명)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빌드 1.5~5분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10–13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② pgAdmin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localhost:5050 → Query Tool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–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13–16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③ 데이터 적재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loader 실행 → 텍스트 적재 완료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1~2분 (임베딩은 뒤에서)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16–33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④ ts_rank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sql/10 → 14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14번 평가 약 2분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33–52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⑤ BM25 구현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sql/20 → 24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21번 구축 약 30초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52–60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⑥ 종합 비교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sql/25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약 30초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3150000"/>
            <a:ext cx="8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실측(캐시 없는 최초 실행, 12코어·8GB): compose up 1분 31초 → 텍스트 적재 완료 2분 33초 → 임베딩 완료 5분 23초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400"/>
              <a:t>SQL 실행 합계 약 3분 30초. 4코어·느린 회선에서 2~3배가 걸려도 임베딩은 ④⑤ 동안 끝나 60분 안에 들어온다.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저장소 구조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0000" y="820000"/>
          <a:ext cx="8700000" cy="27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0000"/>
                <a:gridCol w="6090000"/>
              </a:tblGrid>
              <a:tr h="30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경로 (4강실습/)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docker-compose.yml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db · pgadmin · loader 3개 서비스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db/Dockerfile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pgvector(PG17) + mecab-ko + mecab-ko-dic + textsearch_ko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db/init/*.sql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최초 1회 : 익스텐션 · 스키마(docs, questions)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pgadmin/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서버 자동 등록(servers.json) · 비밀번호 파일(pgpass)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loader/load.py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KLUE-MRC 다운로드 → COPY → 임베딩 → HNSW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sql/10 ~ 14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ts_rank 실습 · 품질 측정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sql/20 ~ 25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BM25 구현 · 트리거 · 종합 비교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slides/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이 장표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3700000"/>
            <a:ext cx="88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git clone https://github.com/hikaMaeng/-ai-.git   →   cd -ai-/4강실습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4강실습/sql/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실습 환경 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도커 컴포즈 한 장으로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1.서비스 3개</a:t>
            </a:r>
            <a:br>
              <a:rPr lang="ko" sz="1648"/>
            </a:br>
            <a:r>
              <a:rPr sz="1648"/>
              <a:t> -db : pgvector(PG17) + 한국어 형태소 분석기, 포트 5432</a:t>
            </a:r>
            <a:br>
              <a:rPr lang="ko" sz="1648"/>
            </a:br>
            <a:r>
              <a:rPr sz="1648"/>
              <a:t> -pgadmin : 웹 대시보드, 포트 5050</a:t>
            </a:r>
            <a:br>
              <a:rPr lang="ko" sz="1648"/>
            </a:br>
            <a:r>
              <a:rPr sz="1648"/>
              <a:t> -loader : 데이터 적재 도구 (profiles: tools → up 으로는 안 뜨고 run 으로만)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2.실행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docker compose up -d --build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docker compose exec db psql -U lab -d lab</a:t>
            </a:r>
            <a:br>
              <a:rPr lang="ko" sz="1648"/>
            </a:br>
            <a:r>
              <a:rPr sz="1648"/>
              <a:t> -첫 빌드만 3~5분, 이후 몇 초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3.볼륨</a:t>
            </a:r>
            <a:br>
              <a:rPr lang="ko" sz="1648"/>
            </a:br>
            <a:r>
              <a:rPr sz="1648"/>
              <a:t> -pgdata · pgadmin · hfcache : 재실행해도 다시 받지 않음</a:t>
            </a:r>
            <a:br>
              <a:rPr lang="ko" sz="1648"/>
            </a:br>
            <a:r>
              <a:rPr sz="1648"/>
              <a:t> -./sql 을 db(/sql) 와 pgAdmin 파일 브라우저 양쪽에 마운트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4.초기화 스크립트</a:t>
            </a:r>
            <a:br>
              <a:rPr lang="ko" sz="1648"/>
            </a:br>
            <a:r>
              <a:rPr sz="1648"/>
              <a:t> -db/init 은 최초 1회: vector · textsearch_ko 익스텐션, docs · questions 스키마</a:t>
            </a:r>
            <a:br>
              <a:rPr lang="ko" sz="1648"/>
            </a:br>
            <a:r>
              <a:rPr sz="1648"/>
              <a:t> -처음부터 다시: docker compose down -v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4강실습/docker-compose.yml</a:t>
            </a: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4강실습/db/init/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한국어 형태소 분석기 이미지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1.pgvector 공식 이미지 위에 3개를 소스 빌드</a:t>
            </a:r>
            <a:br>
              <a:rPr lang="ko" sz="1648"/>
            </a:br>
            <a:r>
              <a:rPr sz="1648"/>
              <a:t> -mecab-ko : 형태소 분석 엔진</a:t>
            </a:r>
            <a:br>
              <a:rPr lang="ko" sz="1648"/>
            </a:br>
            <a:r>
              <a:rPr sz="1648"/>
              <a:t> -mecab-ko-dic : 세종 말뭉치 기반 사전</a:t>
            </a:r>
            <a:br>
              <a:rPr lang="ko" sz="1648"/>
            </a:br>
            <a:r>
              <a:rPr sz="1648"/>
              <a:t> -textsearch_ko : mecab 을 PG 전문검색 파서·사전(korean)으로 연결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2.멀티스테이지 빌드</a:t>
            </a:r>
            <a:br>
              <a:rPr lang="ko" sz="1648"/>
            </a:br>
            <a:r>
              <a:rPr sz="1648"/>
              <a:t> -builder 에서 컴파일, 최종 이미지에는 산출물(.so · 사전)만 복사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3.ARM 함정</a:t>
            </a:r>
            <a:br>
              <a:rPr lang="ko" sz="1648"/>
            </a:br>
            <a:r>
              <a:rPr sz="1648"/>
              <a:t> -소스 동봉 config.guess(2014년판)가 aarch64 를 모름</a:t>
            </a:r>
            <a:br>
              <a:rPr lang="ko" sz="1648"/>
            </a:br>
            <a:r>
              <a:rPr sz="1648"/>
              <a:t> -autotools-dev 의 최신 config.guess/sub 로 덮어써서 해결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4.확인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SELECT to_tsvector('korean', '무궁화꽃이 피었습니다');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→ '꽃':2 '무궁화':1 '피':3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4강실습/db/Dockerfile</a:t>
            </a: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4강실습/db/init/01_extensions.sql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pgAdmin 자동 접속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1.로그인 없는 데스크톱 모드</a:t>
            </a:r>
            <a:br>
              <a:rPr lang="ko" sz="1648"/>
            </a:br>
            <a:r>
              <a:rPr sz="1648"/>
              <a:t> -PGADMIN_CONFIG_SERVER_MODE=False</a:t>
            </a:r>
            <a:br>
              <a:rPr lang="ko" sz="1648"/>
            </a:br>
            <a:r>
              <a:rPr sz="1648"/>
              <a:t> -PGADMIN_CONFIG_MASTER_PASSWORD_REQUIRED=False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2.서버 자동 등록</a:t>
            </a:r>
            <a:br>
              <a:rPr lang="ko" sz="1648"/>
            </a:br>
            <a:r>
              <a:rPr sz="1648"/>
              <a:t> -servers.json → 4강실습 그룹 · lab (pgvector-ko)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3.pgpass 권한 함정</a:t>
            </a:r>
            <a:br>
              <a:rPr lang="ko" sz="1648"/>
            </a:br>
            <a:r>
              <a:rPr sz="1648"/>
              <a:t> -libpq 는 권한이 0600 이 아닌 pgpass 를 무시</a:t>
            </a:r>
            <a:br>
              <a:rPr lang="ko" sz="1648"/>
            </a:br>
            <a:r>
              <a:rPr sz="1648"/>
              <a:t> -Windows 에서 마운트한 파일은 0777 로 보임 → entrypoint 에서 복사 후 chmod 600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4.사용법</a:t>
            </a:r>
            <a:br>
              <a:rPr lang="ko" sz="1648"/>
            </a:br>
            <a:r>
              <a:rPr sz="1648"/>
              <a:t> -http://localhost:5050 → lab (pgvector-ko) → Query Tool</a:t>
            </a:r>
            <a:br>
              <a:rPr lang="ko" sz="1648"/>
            </a:br>
            <a:r>
              <a:rPr sz="1648"/>
              <a:t> -폴더 아이콘(Open File) → sql/ → 파일 선택</a:t>
            </a:r>
            <a:br>
              <a:rPr lang="ko" sz="1648"/>
            </a:br>
            <a:r>
              <a:rPr sz="1648"/>
              <a:t> -블록을 드래그하고 F5 (선택 영역만 실행)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4강실습/pgadmin/servers.json</a:t>
            </a: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4강실습/docker-compose.yml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데이터 적재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KLUE-MRC 데이터셋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1.허깅페이스 klue/klue · mrc · validation (CC BY-SA 4.0)</a:t>
            </a:r>
            <a:br>
              <a:rPr lang="ko" sz="1648"/>
            </a:br>
            <a:r>
              <a:rPr sz="1648"/>
              <a:t> -질문 5,841개 → 지문 중복 제거 후 5,309개</a:t>
            </a:r>
            <a:br>
              <a:rPr lang="ko" sz="1648"/>
            </a:br>
            <a:r>
              <a:rPr sz="1648"/>
              <a:t> -출처: 한국경제 2,982 · 위키백과 1,623 · 아크로팬 704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2.고른 이유: 질문마다 정답 지문이 있음</a:t>
            </a:r>
            <a:br>
              <a:rPr lang="ko" sz="1648"/>
            </a:br>
            <a:r>
              <a:rPr sz="1648"/>
              <a:t> -'정답 지문을 상위 10위 안에 찾았나'(Hit@10)로 방법 간 비교 가능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3.datasets 라이브러리 없이 parquet 직접 다운로드</a:t>
            </a:r>
            <a:br>
              <a:rPr lang="ko" sz="1648"/>
            </a:br>
            <a:r>
              <a:rPr sz="1648"/>
              <a:t> -허깅페이스가 자동 변환해 둔 /api/datasets/klue/klue/parquet/mrc/validation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4.지문 규모</a:t>
            </a:r>
            <a:br>
              <a:rPr lang="ko" sz="1648"/>
            </a:br>
            <a:r>
              <a:rPr sz="1648"/>
              <a:t> -평균 약 1,000자, 문서당 고유 형태소 평균 171개(31~358)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4강실습/loader/load.py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로더의 2단계 적재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1.텍스트 적재 (약 1분)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docker compose run --rm loader</a:t>
            </a:r>
            <a:br>
              <a:rPr lang="ko" sz="1648"/>
            </a:br>
            <a:r>
              <a:rPr sz="1648"/>
              <a:t> -parquet → md5 로 지문 중복 제거 → COPY</a:t>
            </a:r>
            <a:br>
              <a:rPr lang="ko" sz="1648"/>
            </a:br>
            <a:r>
              <a:rPr sz="1648"/>
              <a:t> -tsv 는 생성 컬럼 : COPY 하는 동안 형태소 분석까지 끝남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2.'✔ 텍스트 적재 완료' 가 뜨면 창은 두고 바로 ts_rank 실습으로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3.임베딩 (뒤에서 4~10분, 25번에만 필요)</a:t>
            </a:r>
            <a:br>
              <a:rPr lang="ko" sz="1648"/>
            </a:br>
            <a:r>
              <a:rPr sz="1648"/>
              <a:t> -paraphrase-multilingual-MiniLM-L12-v2 · 384차원 · 입력 128토큰</a:t>
            </a:r>
            <a:br>
              <a:rPr lang="ko" sz="1648"/>
            </a:br>
            <a:r>
              <a:rPr sz="1648"/>
              <a:t> -UPDATE 로 채운 뒤 HNSW(vector_cosine_ops) 인덱스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4.스키마</a:t>
            </a:r>
            <a:br>
              <a:rPr lang="ko" sz="1648"/>
            </a:br>
            <a:r>
              <a:rPr sz="1648"/>
              <a:t> -docs(title, content, tsv, embedding)</a:t>
            </a:r>
            <a:br>
              <a:rPr lang="ko" sz="1648"/>
            </a:br>
            <a:r>
              <a:rPr sz="1648"/>
              <a:t> -tsv = setweight(제목,'A') || setweight(본문,'D')   ← 강의 슬라이드 예제 그대로</a:t>
            </a:r>
            <a:br>
              <a:rPr lang="ko" sz="1648"/>
            </a:br>
            <a:r>
              <a:rPr sz="1648"/>
              <a:t> -questions(question, answer, doc_id → 정답 지문)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4강실습/loader/load.py</a:t>
            </a: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4강실습/db/init/02_schema.sql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ts_rank 실습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형태소 분석과 tsvector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1.simple vs korean</a:t>
            </a:r>
            <a:br>
              <a:rPr lang="ko" sz="1648"/>
            </a:br>
            <a:r>
              <a:rPr sz="1648"/>
              <a:t> -simple : '고양이가':1 '사료를':2 … 조사가 붙은 채 → 서로 못 찾음</a:t>
            </a:r>
            <a:br>
              <a:rPr lang="ko" sz="1648"/>
            </a:br>
            <a:r>
              <a:rPr sz="1648"/>
              <a:t> -korean : '고양이':1,4 '사료':2,5 '먹':3 '추천':6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2.mecabko_analyze 로 품사 확인</a:t>
            </a:r>
            <a:br>
              <a:rPr lang="ko" sz="1648"/>
            </a:br>
            <a:r>
              <a:rPr sz="1648"/>
              <a:t> -가셨습니다 → 갈/VV 시/EP 었/EP 습니다/EF</a:t>
            </a:r>
            <a:br>
              <a:rPr lang="ko" sz="1648"/>
            </a:br>
            <a:r>
              <a:rPr sz="1648"/>
              <a:t> -인공지능모델학습데이터 → 인공지능 · 모델 · 학습 · 데이터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3.ts_debug : 토큰별 처리 사전</a:t>
            </a:r>
            <a:br>
              <a:rPr lang="ko" sz="1648"/>
            </a:br>
            <a:r>
              <a:rPr sz="1648"/>
              <a:t> -한글 → korean_stem, 영문 → english_stem, 숫자 → simple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4.tsvector = 형태소 → 위치 목록 + 가중치(A~D)</a:t>
            </a:r>
            <a:br>
              <a:rPr lang="ko" sz="1648"/>
            </a:br>
            <a:r>
              <a:rPr sz="1648"/>
              <a:t> -GIN 인덱스로 @@ 매칭 0.4ms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4강실습/sql/10_tokenize.sql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ts_rank — 가중치와 포화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1.구역 가중치 {D,C,B,A} = {0.1, 0.2, 0.4, 1.0}</a:t>
            </a:r>
            <a:br>
              <a:rPr lang="ko" sz="1648"/>
            </a:br>
            <a:r>
              <a:rPr sz="1648"/>
              <a:t> -제목(A)에 나온 문서가 본문(D)에만 나온 문서보다 위로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2.같은 단어를 n번 반복한 문서</a:t>
            </a:r>
            <a:br>
              <a:rPr lang="ko" sz="1648"/>
            </a:br>
            <a:r>
              <a:rPr sz="1648"/>
              <a:t> -ts_rank : 0.061 → 0.076 → 0.083 … 0.094  (포화)</a:t>
            </a:r>
            <a:br>
              <a:rPr lang="ko" sz="1648"/>
            </a:br>
            <a:r>
              <a:rPr sz="1648"/>
              <a:t> -ts_rank_cd : 0.1 → 0.2 → 0.3 … 1.0  (선형)</a:t>
            </a:r>
            <a:br>
              <a:rPr lang="ko" sz="1648"/>
            </a:br>
            <a:r>
              <a:rPr sz="1648"/>
              <a:t> -PG 소스 : j번째 등장마다 w/(j+1)² 누적 → π²/6 로 수렴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3.AND 의 함정</a:t>
            </a:r>
            <a:br>
              <a:rPr lang="ko" sz="1648"/>
            </a:br>
            <a:r>
              <a:rPr sz="1648"/>
              <a:t> -'말라카이트에서 나온 색깔을 사용한 에디션은?' → 형태소 5개 AND → 0건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4.OR 로 풀면 정답은 2위</a:t>
            </a:r>
            <a:br>
              <a:rPr lang="ko" sz="1648"/>
            </a:br>
            <a:r>
              <a:rPr sz="1648"/>
              <a:t> -1위는 제목에 '에디션'이 들어간 다른 기사</a:t>
            </a:r>
            <a:br>
              <a:rPr lang="ko" sz="1648"/>
            </a:br>
            <a:r>
              <a:rPr sz="1648"/>
              <a:t> -코퍼스에 1건뿐인 '말라카이트'의 희귀함을 ts_rank 는 모름 → 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ts_rank_cd — 커버 밀집도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1.AND 질의 : 질의어가 멀수록 감점</a:t>
            </a:r>
            <a:br>
              <a:rPr lang="ko" sz="1648"/>
            </a:br>
            <a:r>
              <a:rPr sz="1648"/>
              <a:t> -붙어 있음 0.1 · 8단어 사이 0.011 · 30단어 사이 0.003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2.커버가 여러 번이면 합산</a:t>
            </a:r>
            <a:br>
              <a:rPr lang="ko" sz="1648"/>
            </a:br>
            <a:r>
              <a:rPr sz="1648"/>
              <a:t> -1개 0.1 · 2개 0.225 · 3개 0.4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3.OR 질의에서는 밀집도 효과가 사라짐</a:t>
            </a:r>
            <a:br>
              <a:rPr lang="ko" sz="1648"/>
            </a:br>
            <a:r>
              <a:rPr sz="1648"/>
              <a:t> -단어 하나만으로 커버 성립 → 거리와 무관하게 같은 점수</a:t>
            </a:r>
            <a:br>
              <a:rPr lang="ko" sz="1648"/>
            </a:br>
            <a:r>
              <a:rPr sz="1648"/>
              <a:t> -문장형 질문을 OR 로 풀면 cd 의 장점이 약해진다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4.위치 정보 필수</a:t>
            </a:r>
            <a:br>
              <a:rPr lang="ko" sz="1648"/>
            </a:br>
            <a:r>
              <a:rPr sz="1648"/>
              <a:t> -strip() 으로 위치를 지운 tsvector 는 0점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4강실습/sql/12_ts_rank_cd.sql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길이 정규화 옵션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1.ts_rank 세 번째 인자</a:t>
            </a:r>
            <a:br>
              <a:rPr lang="ko" sz="1648"/>
            </a:br>
            <a:r>
              <a:rPr sz="1648"/>
              <a:t> -0 없음 · 1 ÷(1+log 길이) · 2 ÷길이 · 8 ÷고유단어수 · 32 rank/(rank+1)</a:t>
            </a:r>
            <a:br>
              <a:rPr lang="ko" sz="1648"/>
            </a:br>
            <a:r>
              <a:rPr sz="1648"/>
              <a:t> -여러 옵션을 | 로 조합 (예: 1|32 = 로그 감쇄 후 0~1 로)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2.opt1 은 긴 문서를 살짝, opt2 는 크게 감점</a:t>
            </a:r>
            <a:br>
              <a:rPr lang="ko" sz="1648"/>
            </a:br>
            <a:r>
              <a:rPr sz="1648"/>
              <a:t> -'코로나 백신 접종' 상위 10개 평균 길이 : opt0 1,279자 → opt1·opt2 825자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3.한계 : 코퍼스 평균 길이(avgdl)를 모름</a:t>
            </a:r>
            <a:br>
              <a:rPr lang="ko" sz="1648"/>
            </a:br>
            <a:r>
              <a:rPr sz="1648"/>
              <a:t> -길이는 그 문서 하나의 값일 뿐</a:t>
            </a:r>
            <a:br>
              <a:rPr lang="ko" sz="1648"/>
            </a:br>
            <a:r>
              <a:rPr sz="1648"/>
              <a:t> -'평균보다 긴가 짧은가'로 보간하는 BM25 의 b 를 흉내 낼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4강실습/sql/13_normalization.sql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검색 품질 측정 — Hit@10 · MRR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0000" y="820000"/>
          <a:ext cx="8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6000"/>
                <a:gridCol w="1044000"/>
                <a:gridCol w="1044000"/>
                <a:gridCol w="4176000"/>
              </a:tblGrid>
              <a:tr h="30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Hit@10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AND (plainto_tsquery)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0.048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0.044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정확하지만 거의 못 찾음 (재현율 붕괴)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OR + ts_rank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0.484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0.354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흔한 단어가 많은 문서에 끌려감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OR + ts_rank_cd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0.524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0.329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Hit 는 약간 높고 순위는 낮음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OR + ts_rank 정규화1 (선택)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0.484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0.354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정답 순위 198건 변동, 합계는 거의 동일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OR + ts_rank 정규화2 (선택)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0.374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0.233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짧은 지문을 과하게 끌어올림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2870000"/>
            <a:ext cx="8800000" cy="1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질문 500개 샘플(id % 11 = 0). MRR = 정답 순위 역수의 평균 (1위 1.0, 2위 0.5, 10위 밖 0). 결과는 eval_result 에 저장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400"/>
              <a:t>지문 길이가 고른 코퍼스라 로그 정규화(1)의 효과가 작다 → 긴 청크 RAG 에는 opt1, 극단적으로 짧은 청크에만 opt2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4강실습/sql/14_eval_ts_rank.sql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BM25 직접 구현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공식을 테이블로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1.BM25 공식</a:t>
            </a:r>
            <a:br>
              <a:rPr lang="ko" sz="1648"/>
            </a:br>
            <a:r>
              <a:rPr sz="1648"/>
              <a:t> -BM25(D,Q) = Σ IDF(t)·tf·(k1+1) / (tf + k1·(1 − b + b·|D|/avgdl))</a:t>
            </a:r>
            <a:br>
              <a:rPr lang="ko" sz="1648"/>
            </a:br>
            <a:r>
              <a:rPr sz="1648"/>
              <a:t> -IDF(t) = ln(1 + (N − df + 0.5)/(df + 0.5))   ← Lucene 변형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2.필요한 값 → 테이블</a:t>
            </a:r>
            <a:br>
              <a:rPr lang="ko" sz="1648"/>
            </a:br>
            <a:r>
              <a:rPr sz="1648"/>
              <a:t> -tf → bm25_tf(term, doc_id, tf) : 역색인, PK(term, doc_id)</a:t>
            </a:r>
            <a:br>
              <a:rPr lang="ko" sz="1648"/>
            </a:br>
            <a:r>
              <a:rPr sz="1648"/>
              <a:t> -|D| → bm25_doclen · N, avgdl → bm25_stats (항상 1행)</a:t>
            </a:r>
            <a:br>
              <a:rPr lang="ko" sz="1648"/>
            </a:br>
            <a:r>
              <a:rPr sz="1648"/>
              <a:t> -df → bm25_df · IDF → bm25_idf (df 와 N 으로 계산한 캐시)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3.재료는 이미 tsvector 안에 있다</a:t>
            </a:r>
            <a:br>
              <a:rPr lang="ko" sz="1648"/>
            </a:br>
            <a:r>
              <a:rPr sz="1648"/>
              <a:t> -unnest(tsv) → lexeme = term, cardinality(positions) = tf</a:t>
            </a:r>
            <a:br>
              <a:rPr lang="ko" sz="1648"/>
            </a:br>
            <a:r>
              <a:rPr sz="1648"/>
              <a:t> -형태소 분석은 끝났으니 '세고 점수 매기기'만 구현</a:t>
            </a:r>
            <a:br>
              <a:rPr lang="ko" sz="1648"/>
            </a:br>
            <a:r>
              <a:rPr sz="1648"/>
              <a:t> -주의 : tsvector 는 형태소당 위치를 256개까지만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4강실습/sql/20_bm25_tables.sql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일괄 구축과 IDF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1.집합 연산 5번이면 끝 (약 15초)</a:t>
            </a:r>
            <a:br>
              <a:rPr lang="ko" sz="1648"/>
            </a:br>
            <a:r>
              <a:rPr sz="1648"/>
              <a:t> -역색인 908,436행 · 고유 단어 64,877개 · N 5,309 · avgdl 281.3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2.흔한 단어는 IDF ≈ 0</a:t>
            </a:r>
            <a:br>
              <a:rPr lang="ko" sz="1648"/>
            </a:br>
            <a:r>
              <a:rPr sz="1648"/>
              <a:t> -것 0.23 · 있 0.26 · 들 0.28 · 등 0.30   (슬라이드 '은·는·이·가 거의 0점')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3.희귀 단어는 고점</a:t>
            </a:r>
            <a:br>
              <a:rPr lang="ko" sz="1648"/>
            </a:br>
            <a:r>
              <a:rPr sz="1648"/>
              <a:t> -말라카이트 8.17 · 트랜스포머 7.66 · 에디션 5.77 · 반도체 4.31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4.df = 1 인 단어가 31,860개 (49%)</a:t>
            </a:r>
            <a:br>
              <a:rPr lang="ko" sz="1648"/>
            </a:br>
            <a:r>
              <a:rPr sz="1648"/>
              <a:t> -대부분의 단어는 한두 문서에만 나온다 (지프의 법칙)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5.IDF 는 N 이 바뀌면 전부 바뀐다</a:t>
            </a:r>
            <a:br>
              <a:rPr lang="ko" sz="1648"/>
            </a:br>
            <a:r>
              <a:rPr sz="1648"/>
              <a:t> -bm25_refresh_idf() 함수로 분리해 두고 필요할 때 전체 재계산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4강실습/sql/21_bm25_build.sql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점수 분해와 검색 함수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1.정답 지문 점수 24.3 = 말라카이트 12.96 + 에디션 11.38</a:t>
            </a:r>
            <a:br>
              <a:rPr lang="ko" sz="1648"/>
            </a:br>
            <a:r>
              <a:rPr sz="1648"/>
              <a:t> -말라카이트 : tf 3, IDF 8.2 / 에디션 : tf 10 이지만 포화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2.k1 이 클수록 포화가 늦다</a:t>
            </a:r>
            <a:br>
              <a:rPr lang="ko" sz="1648"/>
            </a:br>
            <a:r>
              <a:rPr sz="1648"/>
              <a:t> -tf=10 일 때 tf항 : k1 1.2 → 1.96 · 2.0 → 2.50 · 5.0 → 4.00 (상한 k1+1)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3.b : 평균보다 긴 문서 감점, 짧은 문서 가점</a:t>
            </a:r>
            <a:br>
              <a:rPr lang="ko" sz="1648"/>
            </a:br>
            <a:r>
              <a:rPr sz="1648"/>
              <a:t> -|D|/avgdl = 4 일 때 : b 0 → 1.57 · 0.75 → 0.96 · 1 → 0.85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4.bm25_search(q, k, k1, b)</a:t>
            </a:r>
            <a:br>
              <a:rPr lang="ko" sz="1648"/>
            </a:br>
            <a:r>
              <a:rPr sz="1648"/>
              <a:t> -질의도 to_tsvector('korean') → 역색인 PK 로 질의어 행만 읽음 (약 35ms)</a:t>
            </a:r>
            <a:br>
              <a:rPr lang="ko" sz="1648"/>
            </a:br>
            <a:r>
              <a:rPr sz="1648"/>
              <a:t> -ts_rank 에서 2위였던 정답이 1위로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4강실습/sql/22_bm25_search.sql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트리거로 동적 갱신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1.문장 단위 트리거 + 전이 테이블</a:t>
            </a:r>
            <a:br>
              <a:rPr lang="ko" sz="1648"/>
            </a:br>
            <a:r>
              <a:rPr sz="1648"/>
              <a:t> -REFERENCING NEW TABLE AS new_rows → 1만 건 INSERT 도 1회 실행</a:t>
            </a:r>
            <a:br>
              <a:rPr lang="ko" sz="1648"/>
            </a:br>
            <a:r>
              <a:rPr sz="1648"/>
              <a:t> -전이 테이블은 이벤트 하나짜리 트리거만 → INSERT · UPDATE · DELETE 3개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2.UPDATE = 옛 문서 빼기 + 새 문서 더하기</a:t>
            </a:r>
            <a:br>
              <a:rPr lang="ko" sz="1648"/>
            </a:br>
            <a:r>
              <a:rPr sz="1648"/>
              <a:t> -tsv 가 그대로인 UPDATE(임베딩만 수정)는 건너뜀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3.IDF 는 건드린 단어만 즉시 갱신</a:t>
            </a:r>
            <a:br>
              <a:rPr lang="ko" sz="1648"/>
            </a:br>
            <a:r>
              <a:rPr sz="1648"/>
              <a:t> -나머지는 옛 N 기준으로 남음 → 주기적으로 bm25_refresh_idf()</a:t>
            </a:r>
            <a:br>
              <a:rPr lang="ko" sz="1648"/>
            </a:br>
            <a:r>
              <a:rPr sz="1648"/>
              <a:t> -Lucene 의 세그먼트 병합과 같은 발상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4.bm25_rebuild()</a:t>
            </a:r>
            <a:br>
              <a:rPr lang="ko" sz="1648"/>
            </a:br>
            <a:r>
              <a:rPr sz="1648"/>
              <a:t> -트리거가 꺼져 있던 동안의 불일치 복구용 전체 재구축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4강실습/sql/23_bm25_triggers.sql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트리거 검증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1.INSERT</a:t>
            </a:r>
            <a:br>
              <a:rPr lang="ko" sz="1648"/>
            </a:br>
            <a:r>
              <a:rPr sz="1648"/>
              <a:t> -새 단어 '큐비트' 즉시 검색 · 말라카이트 df 1→2, IDF 8.17→7.66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2.UPDATE</a:t>
            </a:r>
            <a:br>
              <a:rPr lang="ko" sz="1648"/>
            </a:br>
            <a:r>
              <a:rPr sz="1648"/>
              <a:t> -본문에서 '큐비트' 제거 → 사전에서도 삭제</a:t>
            </a:r>
            <a:br>
              <a:rPr lang="ko" sz="1648"/>
            </a:br>
            <a:r>
              <a:rPr sz="1648"/>
              <a:t> -source 만 바꾼 UPDATE → 통계 변화 없음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3.DELETE</a:t>
            </a:r>
            <a:br>
              <a:rPr lang="ko" sz="1648"/>
            </a:br>
            <a:r>
              <a:rPr sz="1648"/>
              <a:t> -N · total_len 원래 값으로 복귀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4.정합성 대조 : 트리거 유지값 vs 처음부터 재계산</a:t>
            </a:r>
            <a:br>
              <a:rPr lang="ko" sz="1648"/>
            </a:br>
            <a:r>
              <a:rPr sz="1648"/>
              <a:t> -tf · df · N 불일치 0건</a:t>
            </a:r>
            <a:br>
              <a:rPr lang="ko" sz="1648"/>
            </a:br>
            <a:r>
              <a:rPr sz="1648"/>
              <a:t> -IDF 오차 7건 = 설계상 허용 → bm25_refresh_idf() 후 0건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5.로더 재실행도 트리거가 처리</a:t>
            </a:r>
            <a:br>
              <a:rPr lang="ko" sz="1648"/>
            </a:br>
            <a:r>
              <a:rPr sz="1648"/>
              <a:t> -DELETE 5,309행 → COPY 5,309행 = 트리거 2회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4강실습/sql/24_bm25_trigger_test.sql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종합 비교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방법별 종합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0000" y="820000"/>
          <a:ext cx="8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8000"/>
                <a:gridCol w="1044000"/>
                <a:gridCol w="1044000"/>
                <a:gridCol w="3654000"/>
              </a:tblGrid>
              <a:tr h="30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Hit@10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marT="30000" marB="30000">
                    <a:solidFill>
                      <a:srgbClr val="FF7043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OR + ts_rank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0.484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0.354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PG 기본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OR + ts_rank_cd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0.524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0.329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밀집도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BM25 (직접 구현)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0.938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0.838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IDF + avgdl 길이 보간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벡터 (MiniLM, 지문 통째)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0.376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0.204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HNSW 코사인</a:t>
                      </a:r>
                    </a:p>
                  </a:txBody>
                  <a:tcPr marT="30000" marB="30000">
                    <a:solidFill>
                      <a:srgbClr val="FFF3E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하이브리드 RRF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0.896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0.523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Σ 1/(60 + rank)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2870000"/>
            <a:ext cx="8800000" cy="1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BM25 파라미터 : k1 0.5 → 0.948 · b 0 → 0.948 · 기본(1.2, 0.75) → 0.938 · k1 2.0 → 0.930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400"/>
              <a:t>BM25만 맞힌 질문 : 고유명사·숫자 (슈트레제만, RIR 중위값, 코페르니쿠스 …)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400"/>
              <a:t>벡터만 맞힌 질문 : 바꿔 말하기 ('실존하는 발광체로 만들 수 있는 색깔' 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4강실습/sql/25_eval_all.sql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해석과 과제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/>
              <a:t>1.BM25 가 ts_rank 의 두 배</a:t>
            </a:r>
            <a:br>
              <a:rPr lang="ko" sz="1550"/>
            </a:br>
            <a:r>
              <a:rPr sz="1550"/>
              <a:t> -차이는 IDF 와 평균 길이 기반 길이 보간뿐 — 같은 tsvector 를 썼다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50"/>
              <a:t>2.데이터의 성격</a:t>
            </a:r>
            <a:br>
              <a:rPr lang="ko" sz="1550"/>
            </a:br>
            <a:r>
              <a:rPr sz="1550"/>
              <a:t> -KLUE-MRC 질문은 지문의 고유명사·숫자를 그대로 사용 → 키워드 검색에 유리</a:t>
            </a:r>
            <a:br>
              <a:rPr lang="ko" sz="1550"/>
            </a:br>
            <a:r>
              <a:rPr sz="1550"/>
              <a:t> -지문 길이가 고름 → b=0 이 오히려 좋다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50"/>
              <a:t>3.벡터가 약한 이유 = 청킹</a:t>
            </a:r>
            <a:br>
              <a:rPr lang="ko" sz="1550"/>
            </a:br>
            <a:r>
              <a:rPr sz="1550"/>
              <a:t> -입력 128토큰 → 지문 앞 2~3문장만 벡터에 담김</a:t>
            </a:r>
            <a:br>
              <a:rPr lang="ko" sz="1550"/>
            </a:br>
            <a:r>
              <a:rPr sz="1550"/>
              <a:t> -정답이 뒤쪽에 있으면 못 찾음 (강의 : '청킹이 가장 중요')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50"/>
              <a:t>4.RRF 는 동등 가중</a:t>
            </a:r>
            <a:br>
              <a:rPr lang="ko" sz="1550"/>
            </a:br>
            <a:r>
              <a:rPr sz="1550"/>
              <a:t> -약한 쪽이 강한 쪽의 순위를 끌어내림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50"/>
              <a:t>5.과제</a:t>
            </a:r>
            <a:br>
              <a:rPr lang="ko" sz="1550"/>
            </a:br>
            <a:r>
              <a:rPr sz="1550"/>
              <a:t> -지문을 문장 단위로 청킹해 다시 임베딩 → 25번 재측정</a:t>
            </a:r>
            <a:br>
              <a:rPr lang="ko" sz="1550"/>
            </a:br>
            <a:r>
              <a:rPr sz="1550"/>
              <a:t> -가중 RRF (BM25 쪽 가중↑) · 질의어 빈도(qtf) 반영 · BM25F(제목/본문 따로)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4강실습/sql/25_eval_all.sql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정리와 문제 해결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8"/>
              <a:t>1.끝나면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docker compose down        # 컨테이너만 정지 (데이터 유지)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docker compose down -v     # 데이터까지 삭제, 처음부터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2.포트 충돌 (5432 / 5050 사용 중)</a:t>
            </a:r>
            <a:br>
              <a:rPr lang="ko" sz="1648"/>
            </a:br>
            <a:r>
              <a:rPr sz="1398">
                <a:solidFill>
                  <a:srgbClr val="009CA6"/>
                </a:solidFill>
                <a:latin typeface="Roboto Mono"/>
                <a:ea typeface="Roboto Mono"/>
                <a:cs typeface="Roboto Mono"/>
              </a:rPr>
              <a:t>   DB_PORT=15432 PGADMIN_PORT=15050 docker compose up -d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3.pgAdmin 이 안 열림</a:t>
            </a:r>
            <a:br>
              <a:rPr lang="ko" sz="1648"/>
            </a:br>
            <a:r>
              <a:rPr sz="1648"/>
              <a:t> -첫 기동은 20~30초 · docker compose logs pgadmin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4.25번 벡터 결과가 0</a:t>
            </a:r>
            <a:br>
              <a:rPr lang="ko" sz="1648"/>
            </a:br>
            <a:r>
              <a:rPr sz="1648"/>
              <a:t> -임베딩 진행 중 → loader 창의 '완료' 확인 또는 --embed-only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48"/>
              <a:t>5.주의</a:t>
            </a:r>
            <a:br>
              <a:rPr lang="ko" sz="1648"/>
            </a:br>
            <a:r>
              <a:rPr sz="1648"/>
              <a:t> -로더를 docker compose run --build 로 실행하면 db 가 재생성되어 쿼리가 끊긴다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00000"/>
            <a:ext cx="8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757575"/>
                </a:solidFill>
                <a:latin typeface="Roboto Mono"/>
                <a:ea typeface="Roboto Mono"/>
                <a:cs typeface="Roboto Mono"/>
              </a:rPr>
              <a:t>GitHub ▸ </a:t>
            </a:r>
            <a:r>
              <a:rPr sz="110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