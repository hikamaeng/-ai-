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Relationship Id="rId3" Type="http://schemas.openxmlformats.org/officeDocument/2006/relationships/image" Target="../media/image1.gif"/><Relationship Id="rId4" Type="http://schemas.openxmlformats.org/officeDocument/2006/relationships/image" Target="../media/image3.png"/><Relationship Id="rId5" Type="http://schemas.openxmlformats.org/officeDocument/2006/relationships/image" Target="../media/image6.g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3.png"/><Relationship Id="rId4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500" y="712750"/>
            <a:ext cx="8302200" cy="4344000"/>
          </a:xfrm>
          <a:prstGeom prst="roundRect">
            <a:avLst>
              <a:gd fmla="val 480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67232" t="0"/>
          <a:stretch/>
        </p:blipFill>
        <p:spPr>
          <a:xfrm>
            <a:off x="8167116" y="15200"/>
            <a:ext cx="966500" cy="11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58500" y="-9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58500" y="712750"/>
            <a:ext cx="8302200" cy="43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rbit"/>
              <a:buChar char="●"/>
              <a:defRPr sz="23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●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●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descr="a border of fire on a white background .(Tenor 제공)" id="18" name="Google Shape;18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youtube logo with a white play button on a white background(Tenor 제공)" id="19" name="Google Shape;19;p3"/>
          <p:cNvPicPr preferRelativeResize="0"/>
          <p:nvPr/>
        </p:nvPicPr>
        <p:blipFill rotWithShape="1">
          <a:blip r:embed="rId3">
            <a:alphaModFix/>
          </a:blip>
          <a:srcRect b="0" l="39705" r="0" t="53302"/>
          <a:stretch/>
        </p:blipFill>
        <p:spPr>
          <a:xfrm>
            <a:off x="8789575" y="524542"/>
            <a:ext cx="300000" cy="2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뉴런데브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8327" y="116571"/>
            <a:ext cx="1357125" cy="6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neuron_robot_fast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0777" y="0"/>
            <a:ext cx="587548" cy="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섹션 헤더 1">
  <p:cSld name="SECTION_HEADER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0" y="-68855"/>
            <a:ext cx="7227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67">
                <a:solidFill>
                  <a:srgbClr val="FF704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20650" y="420022"/>
            <a:ext cx="7326300" cy="0"/>
          </a:xfrm>
          <a:prstGeom prst="straightConnector1">
            <a:avLst/>
          </a:prstGeom>
          <a:noFill/>
          <a:ln cap="flat" cmpd="sng" w="9525">
            <a:solidFill>
              <a:srgbClr val="3D484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red youtube logo with a white play button on a white background(Tenor 제공)" id="27" name="Google Shape;27;p4"/>
          <p:cNvPicPr preferRelativeResize="0"/>
          <p:nvPr/>
        </p:nvPicPr>
        <p:blipFill rotWithShape="1">
          <a:blip r:embed="rId2">
            <a:alphaModFix/>
          </a:blip>
          <a:srcRect b="0" l="39705" r="0" t="53302"/>
          <a:stretch/>
        </p:blipFill>
        <p:spPr>
          <a:xfrm>
            <a:off x="8789575" y="524542"/>
            <a:ext cx="300000" cy="2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 title="뉴런데브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327" y="116571"/>
            <a:ext cx="1357125" cy="61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5375" y="375350"/>
            <a:ext cx="9230100" cy="4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861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Roboto Mono Light"/>
              <a:buChar char="●"/>
              <a:defRPr sz="2048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●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●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7671050" y="3669325"/>
            <a:ext cx="1472700" cy="1474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4" title="neuron_robot_fas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0777" y="0"/>
            <a:ext cx="587548" cy="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92704" y="0"/>
            <a:ext cx="375904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1">
  <p:cSld name="TITLE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2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3">
  <p:cSld name="TITLE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4">
  <p:cSld name="TITLE_4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5">
  <p:cSld name="TITLE_5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6">
  <p:cSld name="TITLE_6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7">
  <p:cSld name="TITLE_7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" name="Google Shape;8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8">
  <p:cSld name="TITLE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ocker-compose.y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ocker-compose.y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b/Dockerfil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b/Dockerfil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b/Dockerfil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b/init/01_extensions.sql" TargetMode="External"/><Relationship Id="rId3" Type="http://schemas.openxmlformats.org/officeDocument/2006/relationships/hyperlink" Target="https://github.com/hikaMaeng/-ai-/blob/main/4%EA%B0%95%EC%8B%A4%EC%8A%B5/db/init/02_schema.sq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pgadmin/servers.json" TargetMode="External"/><Relationship Id="rId3" Type="http://schemas.openxmlformats.org/officeDocument/2006/relationships/hyperlink" Target="https://github.com/hikaMaeng/-ai-/blob/main/4%EA%B0%95%EC%8B%A4%EC%8A%B5/docker-compose.y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loader/load.p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loader/load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loader/load.p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loader/load.p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0_tokenize.sq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0_tokenize.sq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0_tokenize.sq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0_tokenize.sq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1_ts_rank.sq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2_ts_rank_cd.sq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3_normalization.sq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4_eval_ts_rank.sq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14_eval_ts_rank.sq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0_bm25_tables.sq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0_bm25_tables.sq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0_bm25_tables.sq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1_bm25_build.sq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1_bm25_build.sq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2_bm25_search.sq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2_bm25_search.sq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2_bm25_search.sq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2_bm25_search.sql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2_bm25_search.sq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3_bm25_triggers.sq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3_bm25_triggers.sq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3_bm25_triggers.sql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4_bm25_trigger_test.sql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4_bm25_trigger_test.sql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5_eval_all.sql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5_eval_all.sql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5_eval_all.sql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sql/25_eval_all.sql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README.md" TargetMode="External"/><Relationship Id="rId3" Type="http://schemas.openxmlformats.org/officeDocument/2006/relationships/hyperlink" Target="https://github.com/hikaMaeng/-ai-/blob/main/4%EA%B0%95%EC%8B%A4%EC%8A%B5/docker-compose.y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5325" y="838600"/>
            <a:ext cx="3730800" cy="8772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>
                <a:solidFill>
                  <a:srgbClr val="000000"/>
                </a:solidFill>
                <a:latin typeface="Gugi"/>
                <a:ea typeface="Gugi"/>
                <a:cs typeface="Gugi"/>
              </a:rPr>
              <a:t>뉴런데브클래스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25" y="1630325"/>
            <a:ext cx="9076800" cy="1985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700">
                <a:solidFill>
                  <a:srgbClr val="3D484A"/>
                </a:solidFill>
                <a:latin typeface="Gugi"/>
                <a:ea typeface="Gugi"/>
                <a:cs typeface="Gugi"/>
              </a:rPr>
              <a:t>현대 AI의 원리와 구조</a:t>
            </a:r>
            <a:br>
              <a:rPr lang="ko" sz="6700"/>
            </a:br>
            <a:r>
              <a:rPr sz="5000">
                <a:solidFill>
                  <a:srgbClr val="FF6B4A"/>
                </a:solidFill>
                <a:latin typeface="Gugi"/>
                <a:ea typeface="Gugi"/>
                <a:cs typeface="Gugi"/>
              </a:rPr>
              <a:t>#4-1 벡터디비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2175" y="343875"/>
            <a:ext cx="6591900" cy="28335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67" b="1">
                <a:solidFill>
                  <a:srgbClr val="FF7043"/>
                </a:solidFill>
                <a:latin typeface="Roboto Mono"/>
                <a:ea typeface="Roboto Mono"/>
                <a:cs typeface="Roboto Mono"/>
              </a:rPr>
              <a:t>목차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1 </a:t>
            </a:r>
            <a:r>
              <a:rPr sz="2300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실습 환경 구성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2 </a:t>
            </a:r>
            <a:r>
              <a:rPr sz="2300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데이터 적재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3 </a:t>
            </a:r>
            <a:r>
              <a:rPr sz="2300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형태소 분석과 tsvector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4 </a:t>
            </a:r>
            <a:r>
              <a:rPr sz="2300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ts_rank 계열의 동작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5 </a:t>
            </a:r>
            <a:r>
              <a:rPr sz="2300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BM25 직접 구현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6 </a:t>
            </a:r>
            <a:r>
              <a:rPr sz="2300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종합 비교와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실습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290004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3D484A"/>
                </a:solidFill>
              </a:rPr>
              <a:t>1.강의에서 다룬 키워드 검색을 PostgreSQL 안에서 직접 돌려 본다</a:t>
            </a:r>
            <a:br>
              <a:rPr lang="ko" sz="1600"/>
            </a:br>
            <a:r>
              <a:rPr sz="1600">
                <a:solidFill>
                  <a:srgbClr val="3D484A"/>
                </a:solidFill>
              </a:rPr>
              <a:t> -한국어 형태소 분석 → tsvector → ts_rank · ts_rank_cd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3D484A"/>
                </a:solidFill>
              </a:rPr>
              <a:t>2.PG 에 없는 BM25 를 테이블과 SQL 만으로 구현한다</a:t>
            </a:r>
            <a:br>
              <a:rPr lang="ko" sz="1600"/>
            </a:br>
            <a:r>
              <a:rPr sz="1600">
                <a:solidFill>
                  <a:srgbClr val="3D484A"/>
                </a:solidFill>
              </a:rPr>
              <a:t> -TF 역색인 · DF · IDF · 문서 길이 · 전역 통계</a:t>
            </a:r>
            <a:br>
              <a:rPr lang="ko" sz="1600"/>
            </a:br>
            <a:r>
              <a:rPr sz="1600">
                <a:solidFill>
                  <a:srgbClr val="3D484A"/>
                </a:solidFill>
              </a:rPr>
              <a:t> -트리거로 문서 추가·수정·삭제를 실시간 반영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3D484A"/>
                </a:solidFill>
              </a:rPr>
              <a:t>3.정답이 있는 한국어 데이터로 검색 품질을 숫자로 비교한다</a:t>
            </a:r>
            <a:br>
              <a:rPr lang="ko" sz="1600"/>
            </a:br>
            <a:r>
              <a:rPr sz="1600">
                <a:solidFill>
                  <a:srgbClr val="3D484A"/>
                </a:solidFill>
              </a:rPr>
              <a:t> -KLUE-MRC 질문 500개 → Hit@10 · MRR</a:t>
            </a:r>
            <a:br>
              <a:rPr lang="ko" sz="1600"/>
            </a:br>
            <a:r>
              <a:rPr sz="1600">
                <a:solidFill>
                  <a:srgbClr val="3D484A"/>
                </a:solidFill>
              </a:rPr>
              <a:t> -ts_rank vs BM25 vs 벡터 vs 하이브리드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3D484A"/>
                </a:solidFill>
              </a:rPr>
              <a:t>4.준비물은 Docker Desktop 하나</a:t>
            </a:r>
            <a:br>
              <a:rPr lang="ko" sz="1600"/>
            </a:br>
            <a:r>
              <a:rPr sz="1600">
                <a:solidFill>
                  <a:srgbClr val="3D484A"/>
                </a:solidFill>
              </a:rPr>
              <a:t> -컴포즈 한 번으로 DB · 형태소 분석기 · pgAdmin · 로더까지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실습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컨테이너 3개 + 외부 자원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1100000"/>
            <a:ext cx="1500000" cy="750000"/>
          </a:xfrm>
          <a:prstGeom prst="roundRect">
            <a:avLst/>
          </a:prstGeom>
          <a:solidFill>
            <a:srgbClr val="FFF3EE"/>
          </a:solidFill>
          <a:ln w="1905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3D484A"/>
                </a:solidFill>
              </a:rPr>
              <a:t>브라우저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localhost:5050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0000" y="1100000"/>
            <a:ext cx="1750000" cy="7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3D484A"/>
                </a:solidFill>
              </a:rPr>
              <a:t>pgAdmin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dpage/pgadmin4:9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0000" y="1000000"/>
            <a:ext cx="2350000" cy="950000"/>
          </a:xfrm>
          <a:prstGeom prst="roundRect">
            <a:avLst/>
          </a:prstGeom>
          <a:solidFill>
            <a:srgbClr val="FFF3EE"/>
          </a:solidFill>
          <a:ln w="1905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3D484A"/>
                </a:solidFill>
              </a:rPr>
              <a:t>db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pgvector pg17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+ mecab-ko + textsearch_ko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0000" y="2800000"/>
            <a:ext cx="1750000" cy="750000"/>
          </a:xfrm>
          <a:prstGeom prst="roundRect">
            <a:avLst/>
          </a:prstGeom>
          <a:solidFill>
            <a:srgbClr val="F3F4F5"/>
          </a:solidFill>
          <a:ln w="19050">
            <a:solidFill>
              <a:srgbClr val="808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3D484A"/>
                </a:solidFill>
              </a:rPr>
              <a:t>터미널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psql -f /sql/…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0000" y="2800000"/>
            <a:ext cx="2350000" cy="7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3D484A"/>
                </a:solidFill>
              </a:rPr>
              <a:t>loader (python)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parquet → COPY → 임베딩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0000" y="2800000"/>
            <a:ext cx="1550000" cy="750000"/>
          </a:xfrm>
          <a:prstGeom prst="roundRect">
            <a:avLst/>
          </a:prstGeom>
          <a:solidFill>
            <a:srgbClr val="F3F4F5"/>
          </a:solidFill>
          <a:ln w="19050">
            <a:solidFill>
              <a:srgbClr val="808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3D484A"/>
                </a:solidFill>
              </a:rPr>
              <a:t>Hugging Face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D484A"/>
                </a:solidFill>
              </a:rPr>
              <a:t>klue/klue · MiniLM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00000" y="1475000"/>
            <a:ext cx="600000" cy="0"/>
          </a:xfrm>
          <a:prstGeom prst="line">
            <a:avLst/>
          </a:prstGeom>
          <a:ln w="19050">
            <a:solidFill>
              <a:srgbClr val="808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00000" y="1235000"/>
            <a:ext cx="1400000" cy="230000"/>
          </a:xfrm>
          <a:prstGeom prst="rect">
            <a:avLst/>
          </a:prstGeom>
          <a:noFill/>
        </p:spPr>
        <p:txBody>
          <a:bodyPr wrap="square" anchor="t" lIns="10000" rIns="10000" t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HTTP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50000" y="1475000"/>
            <a:ext cx="700000" cy="0"/>
          </a:xfrm>
          <a:prstGeom prst="line">
            <a:avLst/>
          </a:prstGeom>
          <a:ln w="19050">
            <a:solidFill>
              <a:srgbClr val="808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00000" y="1235000"/>
            <a:ext cx="1400000" cy="230000"/>
          </a:xfrm>
          <a:prstGeom prst="rect">
            <a:avLst/>
          </a:prstGeom>
          <a:noFill/>
        </p:spPr>
        <p:txBody>
          <a:bodyPr wrap="square" anchor="t" lIns="10000" rIns="10000" t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:5432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925000" y="1950000"/>
            <a:ext cx="0" cy="850000"/>
          </a:xfrm>
          <a:prstGeom prst="line">
            <a:avLst/>
          </a:prstGeom>
          <a:ln w="19050">
            <a:solidFill>
              <a:srgbClr val="808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5000" y="2275000"/>
            <a:ext cx="1400000" cy="230000"/>
          </a:xfrm>
          <a:prstGeom prst="rect">
            <a:avLst/>
          </a:prstGeom>
          <a:noFill/>
        </p:spPr>
        <p:txBody>
          <a:bodyPr wrap="square" anchor="t" lIns="10000" rIns="10000" t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COPY / UPDATE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100000" y="3175000"/>
            <a:ext cx="350000" cy="0"/>
          </a:xfrm>
          <a:prstGeom prst="line">
            <a:avLst/>
          </a:prstGeom>
          <a:ln w="19050">
            <a:solidFill>
              <a:srgbClr val="808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050000" y="1900000"/>
            <a:ext cx="700000" cy="1100000"/>
          </a:xfrm>
          <a:prstGeom prst="line">
            <a:avLst/>
          </a:prstGeom>
          <a:ln w="19050">
            <a:solidFill>
              <a:srgbClr val="808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000" y="2390000"/>
            <a:ext cx="1400000" cy="230000"/>
          </a:xfrm>
          <a:prstGeom prst="rect">
            <a:avLst/>
          </a:prstGeom>
          <a:noFill/>
        </p:spPr>
        <p:txBody>
          <a:bodyPr wrap="square" anchor="t" lIns="10000" rIns="10000" t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exec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000" y="3800000"/>
            <a:ext cx="8850000" cy="510144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3D484A"/>
                </a:solidFill>
              </a:rPr>
              <a:t>볼륨 : pgdata (DB) · pgadmin (설정) · hfcache (데이터셋·모델 캐시)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3D484A"/>
                </a:solidFill>
              </a:rPr>
              <a:t>./sql 폴더는 db 의 /sql 과 pgAdmin 파일 브라우저에 동시에 마운트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4강실습/docker-compose.yml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60분 진행표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기계가 기다리는 시간은 10분 남짓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49997" cy="20627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268"/>
                <a:gridCol w="1942682"/>
                <a:gridCol w="3237804"/>
                <a:gridCol w="2590243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실측 대기 (12코어)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00–10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① 환경 구성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compose up · Dockerfile 설명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1분 31초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10–13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② pgAdmin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접속 · Query Tool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–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13–16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③ 데이터 적재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loader → 텍스트 적재 완료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1분 (임베딩은 뒤에서 3분)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46449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16–33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④ tsvector · ts_rank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sql/10 ~ 14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평가 2분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33–52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⑤ BM25 구현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sql/20 ~ 24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구축 30초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52–60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⑥ 종합 비교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sql/25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30초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0000" y="3162745"/>
            <a:ext cx="8850000" cy="5426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캐시 없는 최초 실행 : compose up 1:31 → 텍스트 적재 완료 2:33 → 임베딩 완료 5:23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4코어 노트북·느린 회선에서 2~3배 걸려도 임베딩은 ④⑤ 를 하는 동안 끝난다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6050" y="1767925"/>
            <a:ext cx="7591900" cy="572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실습 환경 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docker-compose.yml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up 한 번에 DB 와 pgAdmin, 로더는 필요할 때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5500000" cy="31375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services: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db: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build: ./db                     # 형태소 분석기를 넣은 이미지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ports: ["${DB_PORT:-5432}:5432"]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volumes: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- pgdata:/var/lib/postgresql/data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- ./db/init:/docker-entrypoint-initdb.d:ro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- ./sql:/sql:ro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healthcheck: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test: ["CMD-SHELL", "pg_isready -U lab -d lab"]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pgadmin: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image: dpage/pgadmin4:9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ports: ["${PGADMIN_PORT:-5050}:80"]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depends_on: {db: {condition: service_healthy}}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loader: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build: ./loader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profiles: ["tools"]             # run 으로만 실행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volumes: [hfcache:/cache]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0000" y="820000"/>
            <a:ext cx="3150000" cy="240982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1.healthcheck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-db 준비 후 pgAdmin·loader 기동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2.init 폴더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-데이터가 빈 첫 기동에만 실행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3.profiles: tools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-docker compose run --rm loader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4.포트 충돌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-DB_PORT=15432 로 실행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5.처음부터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-docker compose down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4강실습/docker-compose.yml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왜 형태소 분석기인가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PG 기본 설정에는 한국어 사전이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4000000" cy="260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6B4A"/>
                </a:solidFill>
              </a:rPr>
              <a:t>'고양이가 사료를 먹었습니다. 고양이 사료 추천'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090000"/>
          <a:ext cx="8850000" cy="799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6250"/>
                <a:gridCol w="7743750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tsvector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simple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'고양이':4  '고양이가':1  '먹었습니다':3  '사료':5  '사료를':2  '추천':6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korean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'고양이':1,4  '먹':3  '사료':2,5  '추천':6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2169125"/>
            <a:ext cx="8850000" cy="1953127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1.simple 은 공백으로만 자른다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-'고양이가' 와 '고양이' 가 다른 토큰 → '고양이' 로 검색하면 첫 문장을 못 찾는다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2.korean = mecab-ko 형태소 분석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-조사(가·를)·어미(었습니다)를 떼고, 용언은 어간(먹)으로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3.구성 요소 3개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-mecab-ko : 형태소 분석 엔진 (C++)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-mecab-ko-dic : 세종 말뭉치 기반 사전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-textsearch_ko : mecab 을 PG 전문검색 파서·사전으로 연결하는 익스텐션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4강실습/db/Dockerfile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Dockerfile ① 빌드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pgvector 공식 이미지 위에서 세 가지를 소스 빌드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37395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pgvector/pgvector:pg17 AS builder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apt-get install -y build-essential autoconf automake libtool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autotools-dev curl postgresql-server-dev-17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1) mecab-ko 엔진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curl -fsSL "$MECAB_URL" | tar xz &amp;&amp; cd mecab-*-ko-*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cp /usr/share/misc/config.guess /usr/share/misc/config.sub .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./configure --prefix=/usr/local &amp;&amp; make -j"$(nproc)" &amp;&amp; make install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2) mecab-ko-dic 사전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curl -fsSL "$MECAB_DIC_URL" | tar xz &amp;&amp; cd mecab-ko-dic-*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./autogen.sh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cp /usr/share/misc/config.guess /usr/share/misc/config.sub .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./configure --with-dicdir=/usr/local/lib/mecab/dic/mecab-ko-dic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make &amp;&amp; make install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3) textsearch_ko : PG 익스텐션 (PGXS)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curl -fsSL "$TEXTSEARCH_KO_URL" | tar xz &amp;&amp; cd textsearch_ko-*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&amp;&amp; make USE_PGXS=1 &amp;&amp; make USE_PGXS=1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4강실습/db/Dockerfile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Dockerfile ② ARM 함정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산출물만 복사하는 멀티스테이지 빌드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10344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pgvector/pgvector:pg17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COPY --from=builder /usr/local/lib/ /usr/local/lib/        # libmecab + 사전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COPY --from=builder /usr/local/etc/mecabrc /usr/local/etc/mecabrc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COPY --from=builder /usr/lib/postgresql/17/lib/ts_mecab_ko.so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COPY --from=builder /usr/share/postgresql/17/extension/textsearch_ko*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ldconfig &amp;&amp; echo '형태소 분석기 동작 확인' | mecab | head 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1994400"/>
            <a:ext cx="4000000" cy="260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6B4A"/>
                </a:solidFill>
              </a:rPr>
              <a:t>처음 빌드했을 때 (Windows ARM 노트북)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2264400"/>
            <a:ext cx="8850000" cy="66864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checking build system type... Invalid configuration `aarch64-linux-gnu':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machine `aarch64' not recognized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configure: error: /bin/bash ./config.sub aarch64-linux-gnu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" y="3073040"/>
            <a:ext cx="8850000" cy="54723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1.원인 : 소스에 동봉된 config.guess / config.sub 가 2014년판 → arm64 를 모른다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2.해결 : autotools-dev 의 최신 파일로 덮어쓰기 → amd64 · Apple Silicon · Windows ARM 모두 빌드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4강실습/db/Dockerfile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초기화 스크립트와 스키마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데이터 폴더가 빈 첫 기동에만 실행된다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5500000" cy="33204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-- 01_extensions.sql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EXTENSION vector;          -- pgvector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EXTENSION textsearch_ko;   -- parser/config 'korean'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ALTER DATABASE lab SET default_text_search_config = 'korean';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-- 02_schema.sql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docs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id        bigserial PRIMARY KEY,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doc_key   text UNIQUE NOT NULL,   -- 지문 md5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title     text,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content   text NOT NULL,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tsv       tsvector GENERATED ALWAYS AS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setweight(to_tsvector('korean', coalesce(title,'')), 'A')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setweight(to_tsvector('korean', content), 'D')) STORED,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embedding vector(384));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docs_tsv_gin ON docs USING gin (tsv);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questions (id bigserial PRIMARY KEY,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doc_id bigint REFERENCES docs,    -- 정답 지문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question text, answer text, embedding vector(384));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0000" y="820000"/>
            <a:ext cx="3150000" cy="211949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1.tsv 는 생성 컬럼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-INSERT · UPDATE 때 형태소 분석까지 자동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2.강의 슬라이드의 setweight 예제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-제목 A · 본문 D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3.GIN 인덱스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-@@ 매칭용 역색인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4.questions.doc_id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-품질 측정의 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4강실습/db/init/01_extensions.sql</a:t>
            </a: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4강실습/db/init/02_schema.sql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pgAdmin 자동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로그인 없음 · 서버 자동 등록 · 비밀번호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31456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pgadmin: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environment: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PGADMIN_CONFIG_SERVER_MODE: "False"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PGADMIN_CONFIG_MASTER_PASSWORD_REQUIRED: "False"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entrypoint: 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/bin/sh -c "cp /pgadmin4/pgpass.src /var/lib/pgadmin/pgpass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&amp;&amp; chmod 600 /var/lib/pgadmin/pgpass &amp;&amp; exec /entrypoint.sh"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volumes: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- ./pgadmin/servers.json:/pgadmin4/servers.json:ro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- ./pgadmin/pgpass:/pgadmin4/pgpass.src:ro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servers.json : "Host": "db", "Username": "lab", "PassFile": "/var/lib/pgadmin/pgpass"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pgpass       : db:5432:*:lab:lab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3274560"/>
            <a:ext cx="8850000" cy="756407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1.함정 : libpq 는 권한이 0600 이 아닌 pgpass 를 무시한다. Windows 마운트 파일은 0777 → 복사 후 chmod 600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2.사용법 : localhost:5050 → 4강실습 → lab (pgvector-ko) → Query Tool → 블록 선택 후 F5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4강실습/pgadmin/servers.json</a:t>
            </a: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4강실습/docker-compose.yml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기동과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첫 빌드 1분 30초 (12코어) ~ 5분 (4코어)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46696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git clone https://github.com/hikaMaeng/-ai-.git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cd -ai-/4강실습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up -d --build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 ai4-db       Up (healthy)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 ai4-pgadmin  Up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exec db psql -U lab -d lab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-c "SELECT to_tsvector('korean', '무궁화꽃이 피었습니다')"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 '꽃':2 '무궁화':1 '피':3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3426960"/>
            <a:ext cx="8850000" cy="3394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조사 '이' 와 어미 '었습니다' 가 사라지고, 위치 (1,2,3) 는 원문 순서를 기억한다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6050" y="1767925"/>
            <a:ext cx="7591900" cy="572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데이터 적재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KLUE-MRC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질문마다 정답 지문이 있는 한국어 기계독해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50000" cy="1550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6250"/>
                <a:gridCol w="774375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필드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예시 (validation 첫 행)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title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BMW 코리아, 창립 25주년 기념 'BMW 코리아 25주년 에디션' 한정 출시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context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BMW 코리아(대표 한상윤)는 창립 25주년을 기념하는 … 말라카이트 그린 다크 … (약 1,000자)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question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말라카이트에서 나온 색깔을 사용한 에디션은?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answer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뉴 740Li 25주년 에디션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source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acrofan (뉴스)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000" y="2650622"/>
            <a:ext cx="8850000" cy="77964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1.validation 분할 : 질문 5,841개 → 지문 중복 제거 후 5,309개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-한국경제 2,982 · 위키백과 1,623 · 아크로팬 704   (CC BY-SA 4.0)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2.정답 지문이 있으므로 '상위 10위 안에 찾았나'로 채점할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4강실습/loader/load.py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로더 ① 다운로드와 정규화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datasets 라이브러리 없이 parquet 를 직접 받는다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4060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def download(split):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url = f"https://huggingface.co/api/datasets/klue/klue/parquet/mrc/{split}/0.parquet"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path.write_bytes(requests.get(url).content)   # /cache 볼륨 → 재실행 시 생략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return pd.read_parquet(path)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def build_frames(raw):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  # 같은 지문에 질문이 여러 개 → 지문 내용의 md5 로 중복 제거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raw["doc_key"] = raw["context"].map(lambda s: hashlib.md5(s.encode()).hexdigest())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docs = raw.drop_duplicates("doc_key")[["doc_key", "title", "context", ...]]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qs   = raw[["guid", "doc_key", "question", ...]]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qs["answer"] = raw["answers"].map(lambda a: a["text"][0])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return docs, qs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3366000"/>
            <a:ext cx="8850000" cy="5426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허깅페이스는 공개 데이터셋을 parquet 로 자동 변환해 둔다 (/api/datasets/{id}/parquet/…)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무거운 datasets 패키지 없이 pandas 만으로 읽는다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4강실습/loader/load.py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로더 ② 텍스트 먼저, 임베딩은 나중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실습을 막지 않도록 두 번 커밋한다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4060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텍스트 : COPY → 커밋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cur.execute("DELETE FROM docs")    # TRUNCATE 는 행 트리거를 발동시키지 않는다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with cur.copy("COPY docs (doc_key, title, content, category, source) FROM STDIN") as cp: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for d in docs.itertuples():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cp.write_row((d.doc_key, d.title, d.content, d.category, d.source))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conn.commit()                      # ← 여기부터 ts_rank · BM25 실습 가능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임베딩 : 계산 → 임시 테이블 COPY → UPDATE 조인 → HNSW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model = TextEmbedding("sentence-transformers/paraphrase-multilingual-MiniLM-L12-v2")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vecs = model.embed(texts, batch_size=64)       # 384차원, 입력 128토큰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UPDATE docs x SET embedding = e.embedding FROM _emb e WHERE x.id = e.id;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docs_embedding_hnsw ON docs USING hnsw (embedding vector_cosine_ops);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3366000"/>
            <a:ext cx="8850000" cy="54723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1.tsv 는 생성 컬럼 → COPY 하는 동안 형태소 분석까지 끝난다 (5,309건 15초)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2.DELETE 를 쓰는 이유 : BM25 트리거(5장)가 삭제를 감지해야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4강실습/loader/load.py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로더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'텍스트 적재 완료' 가 뜨면 창은 두고 다음 단계로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6803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$ docker compose run --rm loader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1) 데이터셋 다운로드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validation: 5,841 질문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→ 지문 5,309개 / 질문 5,841개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2) 텍스트 적재 (COPY)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docs 5,309행 / questions 5,841행, 15.0s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✔ 텍스트 적재 완료 (19s). 지금부터 10~24번 실습을 시작해도 된다.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3) 임베딩 — 25번 실습에만 필요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docs 임베딩 5,309건 114.3s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questions 임베딩 5,841건 39.5s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4) HNSW 인덱스 생성 (코사인 거리)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완료 (188s)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3640320"/>
            <a:ext cx="8850000" cy="52640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옵션 : --no-embed (텍스트만) · --embed-only (임베딩만) · --splits train validation (전체)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주의 : run --build 로 실행하면 db 컨테이너가 재생성되어 실행 중인 쿼리가 끊긴다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4강실습/loader/load.py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6050" y="1767925"/>
            <a:ext cx="7591900" cy="572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형태소 분석과 tsvector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mecab 은 어떻게 쪼개나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mecabko_analyze() : 형태소와 품사 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3181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word, type FROM mecabko_analyze('아버지가방에들어가신다');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238120"/>
          <a:ext cx="3299999" cy="20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9230"/>
                <a:gridCol w="2030769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아버지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NNG 일반명사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가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JKS 주격조사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방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NNG 일반명사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에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JKB 부사격조사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들어가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VV 동사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시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EP 선어말어미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ㄴ다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EC 연결어미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0000" y="1218120"/>
            <a:ext cx="4000000" cy="260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6B4A"/>
                </a:solidFill>
              </a:rPr>
              <a:t>mecabko_analyze('가셨습니다')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0000" y="1488120"/>
          <a:ext cx="2400000" cy="125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000"/>
                <a:gridCol w="1200000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VV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시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EP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EP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습니다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EF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50000" y="1218120"/>
            <a:ext cx="2800000" cy="260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6B4A"/>
                </a:solidFill>
              </a:rPr>
              <a:t>…('인공지능모델학습데이터')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50000" y="1488120"/>
          <a:ext cx="2750000" cy="125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000"/>
                <a:gridCol w="1375000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인공지능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인공+지능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모델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학습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데이터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50000" y="4117344"/>
            <a:ext cx="8850000" cy="5426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띄어쓰기가 없어도 '아버지가 방에' 로 분리하고 복합명사도 쪼갠다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'가셨습니다 → 갈' 처럼 원형 복원이 틀리기도 한다 → 사전 품질이 검색 품질의 상한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4강실습/sql/10_tokenize.sql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ts_debug : 토큰별 사전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53148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alias, token, dictionaries, lexemes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ts_debug('korean', 'PostgreSQL 17에서 벡터 검색을 테스트했다');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1491480"/>
          <a:ext cx="5499998" cy="225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1403"/>
                <a:gridCol w="1157894"/>
                <a:gridCol w="1833333"/>
                <a:gridCol w="1447368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alias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token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dictionaries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lexemes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asciiword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PostgreSQL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{english_stem}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{postgresql}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uint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17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{simple}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{17}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에서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{korean_stem}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{에서}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벡터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{korean_stem}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{벡터}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검색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{korean_stem}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{검색}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blank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을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테스트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{korean_stem}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{테스트}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word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했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{korean_stem}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{했}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0000" y="1491480"/>
            <a:ext cx="3150000" cy="2433442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1.사전 배정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-한글 → korean_stem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-영문 → english_stem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-숫자 → simple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2.관찰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-'17에서' 의 '에서' 가 토큰으로 남음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-'했' 이 '하' 로 복원 안 됨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3.불용어 · 원형 처리의 한계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-ES · Solr 는 불용어 사전으로 보완 (강의)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4강실습/sql/10_tokenize.sql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tsvector 와 setweight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형태소 → 위치 목록 + 위치별 가중치 (A~D)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3181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* FROM unnest(to_tsvector('korean', '고양이 고양이 고양이 사료'));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238120"/>
          <a:ext cx="4500000" cy="7753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000"/>
                <a:gridCol w="1500000"/>
                <a:gridCol w="15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lexeme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positions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weights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고양이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{1,2,3}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{D,D,D}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사료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{4}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{D}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2153431"/>
            <a:ext cx="8850000" cy="76008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setweight(to_tsvector('korean', '고양이 사료'), 'A')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|| setweight(to_tsvector('korean', '강아지 간식과 고양이 장난감'), 'D');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'간식':4 '강아지':3 '고양이':1A,5 '사료':2A '장난감':6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" y="3053511"/>
            <a:ext cx="8850000" cy="965576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1.positions 의 개수 = 문서 안 등장 횟수 (TF) → BM25 구현의 재료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2.setweight 는 위치마다 딱지를 붙인다</a:t>
            </a:r>
            <a:br>
              <a:rPr lang="ko" sz="1350"/>
            </a:br>
            <a:r>
              <a:rPr sz="1350">
                <a:solidFill>
                  <a:srgbClr val="3D484A"/>
                </a:solidFill>
              </a:rPr>
              <a:t> -|| 로 이으면 뒤쪽 위치가 자동으로 밀린다 (5)</a:t>
            </a:r>
            <a:br>
              <a:rPr lang="ko" sz="1350"/>
            </a:br>
            <a:r>
              <a:rPr sz="1350">
                <a:solidFill>
                  <a:srgbClr val="3D484A"/>
                </a:solidFill>
              </a:rPr>
              <a:t> -딱지가 없으면 D  (강의 : A 헤드라인 · B 부제 · C 본문 · D 주석)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4강실습/sql/10_tokenize.sql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tsquery 와 GIN 인덱스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820000"/>
          <a:ext cx="8849999" cy="1033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3953"/>
                <a:gridCol w="3087209"/>
                <a:gridCol w="3498837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함수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입력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tsquery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plainto_tsquery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고양이 사료를 추천해 주세요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'고양이' &amp; '사료' &amp; '추천'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websearch_to_tsquery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고양이 or 강아지 -간식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'고양이' | '강아지' &amp; !'간식'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to_tsquery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인공지능 &lt;-&gt; 모델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'인공지능' &lt;-&gt; '모델'  (인접)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1993748"/>
            <a:ext cx="8850000" cy="16135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EXPLAIN ANALYZE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id, title FROM docs WHERE tsv @@ plainto_tsquery('korean', '반도체 수출');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Bitmap Heap Scan on docs  (actual rows=7)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-&gt;  Bitmap Index Scan on docs_tsv_gin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Index Cond: (tsv @@ '''반도체'' &amp; ''수출'''::tsquery)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Execution Time: 0.427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3747268"/>
            <a:ext cx="8850000" cy="5426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질의도 같은 형태소 분석을 거친다 → '사료를' 이 '사료' 로 바뀌어 매칭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@@ 는 GIN 역색인을 탄다 : 5,309개 지문에서 0.4ms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4강실습/sql/10_tokenize.sql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6050" y="1767925"/>
            <a:ext cx="7591900" cy="572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ts_rank 계열의 동작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ts_rank 기본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@@ 로 거르고, ts_rank 로 정렬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94296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title, ts_rank(tsv, q) AS rank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docs, plainto_tsquery('korean', '반도체 수출') q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WHERE tsv @@ q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ORDER BY rank DESC LIMIT 10;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902960"/>
          <a:ext cx="8849999" cy="1550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5714"/>
                <a:gridCol w="1264285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…날개 단 SK하이닉스, 반도체 수출 14조 최대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0.992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반도체 검사장비 개발 … 세계 선두업체에 수출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0.909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中 "美 마이크론 사겠다" … 韓 반도체 '초비상'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0.176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한국 中企제품, 中 알리바바서 판매…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0.097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"日기술자 덕에 실패했던 부품개발 성공"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0.000…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0000" y="3593582"/>
            <a:ext cx="8850000" cy="331328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상위 두 건은 제목(A)에 '반도체' 와 '수출' 이 모두 있다 → 가중치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구역 가중치 배열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ts_rank('{D, C, B, A}', tsv, q) — D 부터!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12630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title,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ts_rank(tsv, q)                         AS 기본,         -- {0.1, 0.2, 0.4, 1.0}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ts_rank('{0.1, 0.2, 0.4, 0.1}', tsv, q) AS 제목가중치_끔, -- A → 0.1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ts_rank('{1.0, 0.2, 0.4, 1.0}', tsv, q) AS 본문도_1점    -- D → 1.0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docs, plainto_tsquery('korean', '삼성전자') q WHERE tsv @@ q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ORDER BY 기본 DESC LIMIT 10;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2223000"/>
          <a:ext cx="8850000" cy="12921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1250"/>
                <a:gridCol w="1106250"/>
                <a:gridCol w="1106250"/>
                <a:gridCol w="110625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기본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제목 끔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본문 1점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고용부 "삼성전자서비스 불법 파견 아니다"…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0.644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0.097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0.967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분기 영업익 3조? … 비상걸린 삼성전자…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0.643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0.096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0.963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삼성전자 '7兆 영업이익' 회복 …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0.640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0.093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0.929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삼성전자 또 불산 누출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0.636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0.089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0.890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0000" y="3655185"/>
            <a:ext cx="8850000" cy="331328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제목에 있으면 0.6점대, 가중치를 끄면 0.1 아래 → 점수의 대부분이 '제목에 있느냐' 에서 나온다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반복 실험 : ts_rank 는 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같은 단어를 n번 반복한 문서의 점수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94296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n, ts_rank(t, q), ts_rank_cd(t, q)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generate_series(1, 10) n,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LATERAL (SELECT to_tsvector('korean', repeat('고양이 ', n) || '사료 추천') AS 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    plainto_tsquery('korean', '고양이') AS q) x;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902960"/>
          <a:ext cx="8850000" cy="799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0000"/>
                <a:gridCol w="885000"/>
                <a:gridCol w="885000"/>
                <a:gridCol w="885000"/>
                <a:gridCol w="885000"/>
                <a:gridCol w="885000"/>
                <a:gridCol w="885000"/>
                <a:gridCol w="885000"/>
                <a:gridCol w="885000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ts_rank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.0608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.0760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.0827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.0865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.0890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.0907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.0929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.0942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ts_rank_cd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1.0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2982085"/>
            <a:ext cx="8850000" cy="996563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1.ts_rank 는 증가폭이 줄어들며 수렴한다 (포화)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-강의 슬라이드의 'saturation 이 없어 선형' 과 다르다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2.오히려 ts_rank_cd 가 선형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-단어 하나짜리 커버가 n개 → 커버 점수가 n번 합산된다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포화의 정체 : tsrank.c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OR 질의 (calc_rank_or) 의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12630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/* 한 단어가 문서에 j 번째로 등장할 때마다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for (j = 0; j &lt; dimt; j++)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resj = resj + wpos(post[j]) / ((j + 1) * (j + 1));     /* w / (j+1)^2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/* limit (sum(1/i^2), i=1,inf) = pi^2/6 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res = res + (wjm + resj - wjm / ((jm + 1) * (jm + 1))) / 1.64493406685;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2223000"/>
          <a:ext cx="8849997" cy="53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6829"/>
                <a:gridCol w="1079268"/>
                <a:gridCol w="1079268"/>
                <a:gridCol w="1079268"/>
                <a:gridCol w="1079268"/>
                <a:gridCol w="647560"/>
                <a:gridCol w="2158536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등장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1번째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2번째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3번째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4번째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…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합의 극한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더해지는 값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w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w/4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w/9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w/16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…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w·π²/6 ≈ 1.645w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3035750"/>
            <a:ext cx="8850000" cy="86854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1.등장 횟수가 늘어도 기여가 1/j² 로 줄어 상한이 생긴다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2.BM25 의 tf·(k1+1)/(tf+k1) 와 모양은 다르지만 목적은 같다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3.ts_rank 에 없는 것은 포화가 아니라 IDF 와 평균 길이 (avgdl)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AND 의 함정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문장형 질문을 plainto_tsquery 로 넣으면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140016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plainto_tsquery('korean', '말라카이트에서 나온 색깔을 사용한 에디션은?');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 '말라카이트' &amp; '나오' &amp; '색깔' &amp; '사용' &amp; '에디션'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count(*) FROM docs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WHERE tsv @@ plainto_tsquery('korean', '말라카이트에서 나온 색깔을 사용한 에디션은?');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 0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2500160"/>
            <a:ext cx="8850000" cy="802752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형태소 5개를 모두 포함한 지문은 없다 → 0건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정답 지문에는 '말라카이트' 와 '에디션' 만 있다. 질문은 지문을 그대로 베끼지 않는다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RAG 의 질의는 대부분 문장이다 → OR 로 후보를 넓히고, 순위 함수로 가려야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OR 로 풀기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&amp; 를 | 로 바꾸는 함수를 만들어 계속 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10344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FUNCTION or_query(q text) RETURNS tsquery LANGUAGE sql IMMUTABLE AS $$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SELECT replace(plainto_tsquery('korean', q)::text, '&amp;', '|')::tsquery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$$;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title, ts_rank(tsv, or_query('말라카이트에서 나온 색깔을 사용한 에디션은?')) AS rank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docs WHERE tsv @@ or_query('…') ORDER BY rank DESC LIMIT 5;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994400"/>
          <a:ext cx="8850000" cy="150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0000"/>
                <a:gridCol w="7080000"/>
                <a:gridCol w="1180000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람보르기니, 써벨로와 협업한 리미티드 에디션 자전거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0.1555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BMW 코리아 25주년 에디션 한정 출시   ← 정답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0.1448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1년반 시범시행 했지만 사용률 12% 불과 … 도로명 주소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0.1447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5만弗 이상 사용자도 886명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0.1406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창원 더시티세븐 호텔 경매 나왔다 …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0.1389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0000" y="3637400"/>
            <a:ext cx="8850000" cy="331328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'말라카이트' 는 5,309개 중 1건에만 나오는 희귀어. ts_rank 는 흔한 '사용'·'나오' 와 똑같이 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4강실습/sql/11_ts_rank.sql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ts_rank_cd : 커버 밀집도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질의어를 모두 포함하는 최소 구간 (커버) 이 짧을수록 고점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14535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WITH t(name, body) AS (VALUES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('A 붙어있음', '인공지능 모델 성능 평가 보고서'),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('B 떨어짐',   '인공지능 분야 최근 동향 정리 시장 규모 투자 현황 모델 비교'),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('C 멀리',     '인공지능 ' || repeat('기타 ', 30) || '모델'))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name, ts_rank(to_tsvector('korean', body), q),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ts_rank_cd(to_tsvector('korean', body), q)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t, to_tsquery('korean', '인공지능 &amp; 모델') q;      -- 또는 '인공지능 | 모델'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2413500"/>
          <a:ext cx="8850000" cy="1033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500"/>
                <a:gridCol w="1548750"/>
                <a:gridCol w="1770000"/>
                <a:gridCol w="1548750"/>
                <a:gridCol w="177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문서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AND ts_rank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AND ts_rank_cd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OR ts_rank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OR ts_rank_cd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A 붙어있음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0.0991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0.0608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B 8단어 사이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0.0517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0.0111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C 30단어 사이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0.00004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0.0032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0.0608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3587248"/>
            <a:ext cx="8850000" cy="733166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1.AND : 둘 다 거리에 따라 감점 (ts_rank 도 calc_rank_and 에서 거리를 쓴다)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2.OR : 단어 하나로 커버가 성립 → 거리 효과가 사라진다. 커버 여러 개는 합산 (1개 0.1 · 2개 0.225 · 3개 0.4)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4강실습/sql/12_ts_rank_cd.sql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길이 정규화 옵션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ts_rank(tsv, q, 옵션) — 문서 길이로 나눈다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50000" cy="1455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000"/>
                <a:gridCol w="3540000"/>
                <a:gridCol w="4425000"/>
              </a:tblGrid>
              <a:tr h="2425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옵션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나누는 값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성격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425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없음 (기본)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425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1 + log(문서 길이)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완만한 감쇄 — 긴 문서도 커버리지 보존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425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문서 길이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급격한 감쇄 — 짧은 문서가 유리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425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8 / 16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고유 단어 수 / 1 + log(고유 단어 수)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4256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32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rank / (rank + 1)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0~1 로 눌러 담기, 조합 가능 (1|32)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2635372"/>
          <a:ext cx="5499998" cy="100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444"/>
                <a:gridCol w="1018518"/>
                <a:gridCol w="1018518"/>
                <a:gridCol w="1018518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'서울 아파트 가격'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opt0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opt1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opt2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짧음 (5단어)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0.0608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0.0235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0.0122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중간 (40단어)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0.0608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0.0113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0.0015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김 (300단어)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0.0608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0.0074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0.0002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0000" y="2635372"/>
            <a:ext cx="3150000" cy="109727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1.실제 질의 상위 10개 평균 길이</a:t>
            </a:r>
            <a:br>
              <a:rPr lang="ko" sz="1250"/>
            </a:br>
            <a:r>
              <a:rPr sz="1250">
                <a:solidFill>
                  <a:srgbClr val="3D484A"/>
                </a:solidFill>
              </a:rPr>
              <a:t> -opt0 1,279자 → opt1·2 825자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2.한계</a:t>
            </a:r>
            <a:br>
              <a:rPr lang="ko" sz="1250"/>
            </a:br>
            <a:r>
              <a:rPr sz="1250">
                <a:solidFill>
                  <a:srgbClr val="3D484A"/>
                </a:solidFill>
              </a:rPr>
              <a:t> -코퍼스 평균 길이를 모른다 → BM25 의 b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4강실습/sql/13_normalization.sql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품질 측정 : Hit@10 · MRR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질문 500개로 '정답 지문을 몇 위에 찾았나'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040239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eval_q 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id, doc_id, question FROM questions WHERE id % 11 = 0 LIMIT 500;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질문마다 상위 10개를 뽑아 정답(doc_id)의 순위를 본다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eval_q 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CROSS JOIN LATERAL (SELECT or_query(e.question) AS q) qq   -- 질문당 1번만 분석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CROSS JOIN LATERAL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SELECT d.id, row_number() OVER (ORDER BY ts_rank(d.tsv, qq.q) DESC) AS rn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FROM docs d WHERE d.tsv @@ qq.q ORDER BY rn LIMIT 10)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3000239"/>
            <a:ext cx="8850000" cy="531744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1.Hit@10 = 정답이 10위 안에 든 질문의 비율 · MRR = 정답 순위 역수의 평균 (1위 1.0 · 2위 0.5 · 밖 0)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2.성능 함정 : tsquery 를 문서 행마다 만들면 500 × 5,309번 형태소 분석 → 4분. 질문당 1번으로 바꿔 2분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4강실습/sql/14_eval_ts_rank.sql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ts_rank 계열 성적표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820000"/>
          <a:ext cx="8849998" cy="159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6666"/>
                <a:gridCol w="983333"/>
                <a:gridCol w="983333"/>
                <a:gridCol w="4326666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Hit@10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AND + ts_rank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0.048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0.044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정확하지만 거의 못 찾음 (재현율 붕괴)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OR + ts_rank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0.484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0.354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흔한 단어가 많은 문서에 끌려감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OR + ts_rank_cd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0.524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0.329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Hit 는 조금 높고 순위는 낮음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OR + ts_rank 정규화 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0.484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0.354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198개 질문에서 순위 변동, 합계는 같음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OR + ts_rank 정규화 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0.374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0.233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짧은 지문을 과하게 끌어올림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2698250"/>
            <a:ext cx="8850000" cy="91503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3D484A"/>
                </a:solidFill>
              </a:rPr>
              <a:t>1.절반의 질문은 정답을 10위 안에서도 못 찾는다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500">
                <a:solidFill>
                  <a:srgbClr val="3D484A"/>
                </a:solidFill>
              </a:rPr>
              <a:t>2.지문 길이가 고른 코퍼스 (형태소 31~358개) 에서는 정규화의 효과가 작다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500">
                <a:solidFill>
                  <a:srgbClr val="3D484A"/>
                </a:solidFill>
              </a:rPr>
              <a:t>3.무엇이 빠졌나? → 단어의 희귀도 (IDF) 와 코퍼스 평균 길이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4강실습/sql/14_eval_ts_rank.sql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6050" y="1767925"/>
            <a:ext cx="7591900" cy="572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BM25 직접 구현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BM25 공식 다시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76008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BM25(D,Q) = Σ  IDF(t) · f(t,D)·(k1+1) / ( f(t,D) + k1·(1 − b + b·|D|/avgdl)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t∈Q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IDF(t)    = ln( 1 + (N − df(t) + 0.5) / (df(t) + 0.5) )        -- Lucene 변형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1720080"/>
          <a:ext cx="8849999" cy="1550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6144"/>
                <a:gridCol w="4265060"/>
                <a:gridCol w="3198795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기호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어디서 구하나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f(t,D)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문서 D 안에서 단어 t 의 등장 횟수 (TF)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tsvector 의 positions 개수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|D|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문서 길이 (의미 형태소 수)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문서의 TF 합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avgdl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코퍼스 평균 문서 길이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전체 길이 합 / N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N · df(t)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전체 문서 수 · t 를 포함한 문서 수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집계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k1 · 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TF 포화 강도 (1.2) · 길이 보간 강도 (0.75)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파라미터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0000" y="3410702"/>
            <a:ext cx="8850000" cy="3394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형태소 분석은 이미 tsvector 에 끝나 있다 → 남은 일은 '세고, 저장하고, 점수 매기기'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4강실습/sql/20_bm25_tables.sql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공식을 테이블로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질의어로 찾아 들어가는 역색인 +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2536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bm25_tf (                     -- 역색인 : f(t,D)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term text, doc_id bigint, tf int,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PRIMARY KEY (term, doc_id));             -- term 이 앞 → 질의어로 바로 탐색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bm25_tf_doc ON bm25_tf(doc_id); -- 문서 수정·삭제용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bm25_doclen (doc_id bigint PRIMARY KEY, len int);   -- |D|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bm25_df     (term text PRIMARY KEY, df int);        -- df(t)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bm25_idf    (term text PRIMARY KEY, idf float8);    -- IDF 캐시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TABLE bm25_stats  (id int PRIMARY KEY DEFAULT 1 CHECK (id = 1),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         n_docs bigint, total_len bigint);       -- N, avgdl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3213600"/>
            <a:ext cx="8850000" cy="54723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1.PK 순서가 곧 설계 : (term, doc_id) = '이 단어가 나온 문서들'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2.bm25_stats 는 CHECK (id = 1) 로 항상 1행 · IDF 는 N 이 바뀌면 전부 바뀌므로 캐시로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4강실습/sql/20_bm25_tables.sql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재료는 이미 tsvector 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76008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t.lexeme AS term, cardinality(t.positions) AS tf, t.weights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docs d, unnest(d.tsv) 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WHERE d.title LIKE 'BMW 코리아, 창립 25주년%' ORDER BY tf DESC LIMIT 6;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1720080"/>
          <a:ext cx="5499999" cy="1753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931"/>
                <a:gridCol w="568965"/>
                <a:gridCol w="3793103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weights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25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{A,A,D,D,D,D,D,D,D,D,D,D,D,D}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주년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{A,A,D,D,D,D,D,D,D,D,D,D}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에디션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{A,D,D,D,D,D,D,D,D,D}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한정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{A,D,D,D,D,D,D,D}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bmw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{A,A,D,D,D,D,D,D}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시리즈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  <a:latin typeface="Roboto Mono"/>
                          <a:ea typeface="Roboto Mono"/>
                          <a:cs typeface="Roboto Mono"/>
                        </a:rPr>
                        <a:t>{D,D,D,D,D,D,D,D}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0000" y="1720080"/>
            <a:ext cx="3150000" cy="1740276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1.unnest(tsv)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-lexeme → term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-cardinality(positions) → tf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2.주의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-형태소당 위치는 최대 256개까지만 저장</a:t>
            </a:r>
            <a:br>
              <a:rPr lang="ko" sz="1300"/>
            </a:br>
            <a:r>
              <a:rPr sz="1300">
                <a:solidFill>
                  <a:srgbClr val="3D484A"/>
                </a:solidFill>
              </a:rPr>
              <a:t> -이 코퍼스의 최대 tf 는 49 → 문제없음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4강실습/sql/20_bm25_tables.sql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일괄 구축 : 집합 연산 5번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3046079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INSERT INTO bm25_tf (term, doc_id, tf)                              -- ① TF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t.lexeme, d.id, cardinality(t.positions) FROM docs d, unnest(d.tsv) 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INSERT INTO bm25_doclen (doc_id, len)                                 -- ② 문서 길이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d.id, (SELECT sum(cardinality(t.positions)) FROM unnest(d.tsv) t) FROM docs 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UPDATE bm25_stats SET n_docs = (SELECT count(*) FROM bm25_doclen),   -- ③ N, 전체 길이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     total_len = (SELECT sum(len) FROM bm25_doclen);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INSERT INTO bm25_df SELECT term, count(*) FROM bm25_tf GROUP BY term;   -- ④ DF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FUNCTION bm25_refresh_idf() RETURNS void LANGUAGE sql AS $$     -- ⑤ IDF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TRUNCATE bm25_idf;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INSERT INTO bm25_idf SELECT d.term, ln(1 + (s.n_docs - d.df + 0.5) / (d.df + 0.5))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FROM bm25_df d, bm25_stats 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$$;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000" y="4006079"/>
            <a:ext cx="8850000" cy="3394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결과 : 역색인 908,436행 · 고유 단어 64,877개 · N = 5,309 · avgdl = 281.3 · 약 30초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4강실습/sql/21_bm25_build.sql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IDF 가 말해 주는 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820000"/>
          <a:ext cx="2829999" cy="18090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3333"/>
                <a:gridCol w="943333"/>
                <a:gridCol w="943333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흔한 단어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IDF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것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4,215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0.231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있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4,093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0.260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들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4,024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0.277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등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3,950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0.296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하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3,877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0.314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년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3,598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0.389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60000" y="820000"/>
          <a:ext cx="2829999" cy="1931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3333"/>
                <a:gridCol w="943333"/>
                <a:gridCol w="943333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희귀 단어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IDF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4489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말라카이트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8.172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4489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트랜스포머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7.661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에디션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5.774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반도체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4.308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사용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906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1.768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0000" y="820000"/>
          <a:ext cx="2830000" cy="1550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5000"/>
                <a:gridCol w="1415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df 구간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단어 수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31,860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2~5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18,941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6~50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11,225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51~500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2,585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500+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266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2970000"/>
            <a:ext cx="8850000" cy="868548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1.강의의 '은·는·이·가·이다는 거의 0점' : 것·있·들·하 의 IDF 는 0.2~0.3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2.'말라카이트' 한 단어가 '것' 35개와 맞먹는다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3.단어의 절반 (49%) 이 문서 1개에만 나온다 — 지프의 법칙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4강실습/sql/21_bm25_build.sql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점수를 항 단위로 쪼개기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'말라카이트에서 나온 색깔을 사용한 에디션은?' × 정답 지문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49998" cy="159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2405"/>
                <a:gridCol w="896202"/>
                <a:gridCol w="1120253"/>
                <a:gridCol w="784177"/>
                <a:gridCol w="896202"/>
                <a:gridCol w="1120253"/>
                <a:gridCol w="1120253"/>
                <a:gridCol w="1120253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|D|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avgdl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tf 항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말라카이트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8.172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269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281.3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1.586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12.963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에디션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5.774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269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281.3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1.971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6B4A"/>
                          </a:solidFill>
                        </a:rPr>
                        <a:t>11.382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색깔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31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5.127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사용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906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1.768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나오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1,101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1.573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000" y="2698250"/>
            <a:ext cx="8850000" cy="1116452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1.총점 24.35 는 희귀어 두 개가 만든다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2.tf 3 인 '말라카이트' 가 tf 10 인 '에디션' 보다 높다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-IDF 8.2 × 포화된 tf 항 1.59  vs  IDF 5.8 × 1.97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3.질문의 나머지 단어는 지문에 없다 — 사람의 질문은 지문을 베끼지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4강실습/sql/22_bm25_search.sql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k1 : TF 포화 곡선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|D| = avgdl 일 때 tf 항 = tf·(k1+1)/(tf+k1), 상한 k1+1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49994" cy="1371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511"/>
                <a:gridCol w="1029069"/>
                <a:gridCol w="1029069"/>
                <a:gridCol w="1029069"/>
                <a:gridCol w="1029069"/>
                <a:gridCol w="1029069"/>
                <a:gridCol w="1029069"/>
                <a:gridCol w="1029069"/>
              </a:tblGrid>
              <a:tr h="27431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tf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k1 = 1.2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1.38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1.57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1.77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1.96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2.08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2.15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k1 = 2.0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1.00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1.80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2.14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2.50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2.73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2.89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k1 = 5.0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2.25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3.00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4.00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4.80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5.45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포화 없음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50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000" y="2471560"/>
            <a:ext cx="8850000" cy="1027552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1.k1 이 클수록 포화가 늦다 = TF 가 점수에 오래 기여한다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-강의 슬라이드의 '클수록 TF 억제' 는 반대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2.k1 = 1.2 는 tf 5 에서 이미 상한 (2.2) 의 80%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-'고양이 ×4' 문서가 '고양이 사료 추천' 을 이기지 못하는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4강실습/sql/22_bm25_search.sql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b : 길이 보간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tf = 3 고정, 문서 길이가 평균의 몇 배인가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49999" cy="1097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5454"/>
                <a:gridCol w="1340909"/>
                <a:gridCol w="1340909"/>
                <a:gridCol w="1340909"/>
                <a:gridCol w="1340909"/>
                <a:gridCol w="1340909"/>
              </a:tblGrid>
              <a:tr h="27431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|D| / avgdl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0.25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0.5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1.0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2.0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4.0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b = 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b = 0.75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1.872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1.760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1.294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6B4A"/>
                          </a:solidFill>
                        </a:rPr>
                        <a:t>0.957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7431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b = 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2.000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1.833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1.571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1.222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D484A"/>
                          </a:solidFill>
                        </a:rPr>
                        <a:t>0.846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000" y="2197248"/>
            <a:ext cx="8850000" cy="1027552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1.평균 길이에서는 b 와 무관 · 평균보다 길면 감점, 짧으면 가점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2.PG 정규화와의 차이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-PG : '이 문서의 길이' 로만 나눈다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-BM25 : '평균 대비' 로 보간한다 → avgdl 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4강실습/sql/22_bm25_search.sql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bm25_search()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31680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FUNCTION bm25_search(q text, k int DEFAULT 10,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           k1 float8 DEFAULT 1.2, b float8 DEFAULT 0.75)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RETURNS TABLE (doc_id bigint, score float8) LANGUAGE sql STABLE AS $$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WITH qt AS (SELECT DISTINCT lexeme AS term                -- 질의도 형태소 분석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FROM unnest(to_tsvector('korean', q))),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s  AS (SELECT total_len::float8 / n_docs AS avgdl FROM bm25_stats)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SELECT t.doc_id,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sum(i.idf * t.tf * (k1 + 1)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/ (t.tf + k1 * (1 - b + b * dl.len / s.avgdl))) AS score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FROM qt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JOIN bm25_tf     t  ON t.term = qt.term                   -- 역색인 PK 탐색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JOIN bm25_idf    i  ON i.term = qt.term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JOIN bm25_doclen dl ON dl.doc_id = t.doc_id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CROSS JOIN 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GROUP BY t.doc_id ORDER BY score DESC LIMIT 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$$;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000" y="4128000"/>
            <a:ext cx="8850000" cy="331328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공식이 SQL 한 문장 · 질의어가 있는 행만 읽는다 (bm25_tf_pkey 인덱스 스캔, 약 35ms) · k1 · b 는 인자로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4강실습/sql/22_bm25_search.sql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같은 질문, 다른 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'말라카이트에서 나온 색깔을 사용한 에디션은?'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4000000" cy="260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6B4A"/>
                </a:solidFill>
              </a:rPr>
              <a:t>OR + ts_rank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090000"/>
          <a:ext cx="4329998" cy="150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740"/>
                <a:gridCol w="3207407"/>
                <a:gridCol w="801851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람보르기니 리미티드 에디션 자전거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0.156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BMW 코리아 25주년 에디션  ← 정답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0.145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도로명 주소 사용률 12% 불과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0.145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5만弗 이상 사용자도 886명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0.141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창원 호텔 경매 나왔다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0.139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70000" y="820000"/>
            <a:ext cx="4000000" cy="260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6B4A"/>
                </a:solidFill>
              </a:rPr>
              <a:t>BM25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70000" y="1090000"/>
          <a:ext cx="4329998" cy="150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740"/>
                <a:gridCol w="3207407"/>
                <a:gridCol w="801851"/>
              </a:tblGrid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BMW 코리아 25주년 에디션  ← 정답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B4A"/>
                          </a:solidFill>
                        </a:rPr>
                        <a:t>24.35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유튜버스 라이프 OMG 에디션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12.21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MINI 새빌 로 에디션 출시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11.55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람보르기니 리미티드 에디션 자전거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11.07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0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조흔색  (광물의 색깔)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D484A"/>
                          </a:solidFill>
                        </a:rPr>
                        <a:t>10.01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0000" y="2873000"/>
            <a:ext cx="8850000" cy="558912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ts_rank 에서는 '사용'·'나오' 가 들어간 무관한 기사가 섞였다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BM25 에서는 희귀어 (에디션·색깔) 를 가진 문서만 올라오고, 정답이 2배 차이로 1위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4강실습/sql/22_bm25_search.sql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트리거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문서가 바뀌면 역색인도 따라 바뀌어야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255206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1.문장 (statement) 단위 트리거 + 전이 테이블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-행 단위면 1만 건 INSERT 에 트리거 1만 번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-REFERENCING NEW TABLE AS new_rows → 문장당 1번, 바뀐 행 전체를 집합으로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-PG 제약 : 전이 테이블은 이벤트 하나짜리 트리거에만 → INSERT · UPDATE · DELETE 3개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2.UPDATE = 옛 문서 빼기 + 새 문서 더하기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-tsv 가 그대로인 UPDATE (임베딩만 채우기 등) 는 건너뛴다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3.IDF 는 '건드린 단어' 만 즉시 갱신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-N 이 바뀌면 모든 단어의 IDF 가 조금씩 바뀐다 → 매번 전부 고치면 너무 비싸다</a:t>
            </a:r>
            <a:br>
              <a:rPr lang="ko" sz="1400"/>
            </a:br>
            <a:r>
              <a:rPr sz="1400">
                <a:solidFill>
                  <a:srgbClr val="3D484A"/>
                </a:solidFill>
              </a:rPr>
              <a:t> -부분 갱신 + 주기적 bm25_refresh_idf() — Lucene 세그먼트 병합과 같은 발상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4.bm25_rebuild() : 트리거가 꺼져 있던 동안의 불일치를 복구하는 전체 재구축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4강실습/sql/23_bm25_triggers.sql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트리거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37776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FUNCTION bm25_sync() RETURNS trigger LANGUAGE plpgsql AS $$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BEGIN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-- 전이 테이블은 이 함수 안에서만 보인다 → 임시 테이블로 옮겨 하위 함수와 공유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IF to_regclass('pg_temp._bm25_old') IS NULL THEN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CREATE TEMP TABLE _bm25_old (id bigint, tsv tsvector);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CREATE TEMP TABLE _bm25_new (id bigint, tsv tsvector);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END IF;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TRUNCATE _bm25_old, _bm25_new;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IF    TG_OP = 'INSERT' THEN INSERT INTO _bm25_new SELECT id, tsv FROM new_rows;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ELSIF TG_OP = 'DELETE' THEN INSERT INTO _bm25_old SELECT id, tsv FROM old_rows;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ELSIF TG_OP = 'UPDATE' THEN                               -- tsv 가 바뀐 행만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INSERT INTO _bm25_old SELECT o.id, o.tsv FROM old_rows o JOIN new_rows n USING (id)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         WHERE o.tsv IS DISTINCT FROM n.tsv;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INSERT INTO _bm25_new SELECT n.id, n.tsv FROM old_rows o JOIN new_rows n USING (id)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         WHERE o.tsv IS DISTINCT FROM n.tsv;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END IF;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PERFORM bm25_remove_docs();  PERFORM bm25_add_docs();  PERFORM bm25_touch_idf();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RETURN NULL;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END $$;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4강실습/sql/23_bm25_triggers.sql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더하기 · 빼기 ·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37776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bm25_add_docs() : df 는 ON CONFLICT 로 누적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INSERT INTO bm25_tf (term, doc_id, tf)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t.lexeme, n.id, cardinality(t.positions) FROM _bm25_new n, unnest(n.tsv) 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INSERT INTO bm25_df (term, df)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t.lexeme, count(*) FROM _bm25_new n, unnest(n.tsv) t GROUP BY t.lexeme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ON CONFLICT (term) DO UPDATE SET df = bm25_df.df + EXCLUDED.df;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bm25_remove_docs() : 지운 tf 행을 RETURNING 으로 받아 df 감소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WITH del AS (DELETE FROM bm25_tf t USING _bm25_old 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WHERE t.doc_id = o.id RETURNING t.term)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UPDATE bm25_df d SET df = d.df - c.n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(SELECT term, count(*) n FROM del GROUP BY term) c WHERE d.term = c.term;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트리거 3개 : 전이 테이블은 이벤트 하나짜리 트리거에만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TRIGGER bm25_sync_ins AFTER INSERT ON docs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REFERENCING NEW TABLE AS new_rows FOR EACH STATEMENT EXECUTE FUNCTION bm25_sync();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TRIGGER bm25_sync_upd AFTER UPDATE ON docs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REFERENCING OLD TABLE AS old_rows NEW TABLE AS new_rows FOR EACH STATEMENT ...;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TRIGGER bm25_sync_del AFTER DELETE ON docs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REFERENCING OLD TABLE AS old_rows FOR EACH STATEMENT ...;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4강실습/sql/23_bm25_triggers.sql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검증 ① INSERT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64578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INSERT INTO docs (doc_key, title, content, source) VALUES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('test-1', '양자컴퓨터 상용화 경쟁', '… 큐비트 100개 규모의 양자컴퓨터 시제품 … 큐비트 오류율 …', 'test'),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('test-2', '말라카이트 원석 전시회', '녹색 광물 말라카이트 원석을 모은 전시회가 열린다.', 'test');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1605780"/>
          <a:ext cx="5499998" cy="1033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5384"/>
                <a:gridCol w="1692307"/>
                <a:gridCol w="1692307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확인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N · total_len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5,309 · 1,493,622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5,311 · 1,493,652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큐비트 df · IDF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(없음)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 · 8.172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말라카이트 df · IDF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 · 8.172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 · 7.661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2779528"/>
          <a:ext cx="5500000" cy="7753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0000"/>
                <a:gridCol w="11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bm25_search('큐비트 양자컴퓨터')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양자컴퓨터 상용화 경쟁  ← 방금 넣은 문서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32.26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정부 "日 수산물 수입금지 …"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9.66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0000" y="1605780"/>
            <a:ext cx="3150000" cy="117474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1.넣자마자 검색된다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2.희귀어가 하나 더 생기면 IDF 가 떨어진다</a:t>
            </a:r>
            <a:br>
              <a:rPr lang="ko" sz="1350"/>
            </a:br>
            <a:r>
              <a:rPr sz="1350">
                <a:solidFill>
                  <a:srgbClr val="3D484A"/>
                </a:solidFill>
              </a:rPr>
              <a:t> -말라카이트 8.17 → 7.66</a:t>
            </a:r>
            <a:br>
              <a:rPr lang="ko" sz="1350"/>
            </a:br>
            <a:r>
              <a:rPr sz="1350">
                <a:solidFill>
                  <a:srgbClr val="3D484A"/>
                </a:solidFill>
              </a:rPr>
              <a:t> -기존 정답 점수 24.35 → 23.53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4강실습/sql/24_bm25_trigger_test.sql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검증 ② 수정 · 삭제 · 정합성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820000"/>
          <a:ext cx="8850000" cy="1065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8750"/>
                <a:gridCol w="2765625"/>
                <a:gridCol w="2765625"/>
              </a:tblGrid>
              <a:tr h="26637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동작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기대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본문에서 '큐비트' 삭제 (UPDATE)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큐비트가 사전에서 사라짐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bm25_df 0건 ✔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source 컬럼만 UPDATE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역색인 변화 없음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N · total_len 그대로 ✔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6637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테스트 문서 DELETE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원래 통계로 복귀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84A"/>
                          </a:solidFill>
                        </a:rPr>
                        <a:t>5,309 · 1,493,622 ✔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0000" y="2025500"/>
            <a:ext cx="8850000" cy="5467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트리거로 유지한 값 vs 처음부터 다시 계산한 값 (EXCEPT 양방향 비교)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tf 불일치 0 · df 불일치 0 · N 불일치 0 · IDF 오차(&gt;1e-9) 7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2712220"/>
            <a:ext cx="8850000" cy="965312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IDF 오차 7건은 설계대로다. UPDATE 때 빠진 단어 ('연구진'·'오류율' 등) 는 그때의 N = 5,311 로 계산됐고,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DELETE 는 수정된 본문의 단어만 건드리므로 다시 계산되지 않았다 → SELECT bm25_refresh_idf(); 후 0건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로더 재실행 (DELETE 5,309행 → COPY 5,309행) 도 트리거 2번으로 처리된다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4강실습/sql/24_bm25_trigger_test.sql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6050" y="1767925"/>
            <a:ext cx="7591900" cy="5727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종합 비교와 해석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벡터 검색과 RRF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229932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벡터 : 질문 임베딩과 지문 임베딩의 코사인 거리 (HNSW 인덱스)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d.id FROM docs d ORDER BY d.embedding &lt;=&gt; q.embedding LIMIT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-- RRF : 점수 대신 '순위' 만 합친다   score = Σ 1 / (60 + rank)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doc_id, sum(1.0 / (60 + rn)) AS rrf FROM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SELECT doc_id, row_number() OVER (ORDER BY score DESC) AS rn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FROM bm25_search(question, 50)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UNION 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SELECT id, row_number() OVER (ORDER BY embedding &lt;=&gt; q.embedding)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FROM (SELECT id, embedding FROM docs ORDER BY embedding &lt;=&gt; q.embedding LIMIT 50) 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) u GROUP BY doc_id ORDER BY rrf DESC LIMIT 10;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000" y="3259320"/>
            <a:ext cx="8850000" cy="339456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BM25 점수 (0~30) 와 코사인 거리 (0~2) 는 척도가 달라 더할 수 없다 → 순위만 쓰는 RRF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4강실습/sql/25_eval_all.sql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종합 성적표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KLUE-MRC 질문 500개, 지문 5,309개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49998" cy="1975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3529"/>
                <a:gridCol w="1041176"/>
                <a:gridCol w="1041176"/>
                <a:gridCol w="3644117"/>
              </a:tblGrid>
              <a:tr h="2822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Hit@10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무엇이 다른가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822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6B4A"/>
                          </a:solidFill>
                        </a:rPr>
                        <a:t>BM25 (직접 구현)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6B4A"/>
                          </a:solidFill>
                        </a:rPr>
                        <a:t>0.938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6B4A"/>
                          </a:solidFill>
                        </a:rPr>
                        <a:t>0.838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6B4A"/>
                          </a:solidFill>
                        </a:rPr>
                        <a:t>IDF + 평균 길이 보간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82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하이브리드 RRF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0.896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0.523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BM25 50위 + 벡터 50위 순위 합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82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OR + ts_rank_cd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0.524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0.329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밀집도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82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OR + ts_rank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0.484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0.354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PG 기본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82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벡터 (MiniLM, 지문 통째)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0.376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0.204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HNSW 코사인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82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AND + ts_rank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0.048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0.044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D484A"/>
                          </a:solidFill>
                        </a:rPr>
                        <a:t>모든 단어 포함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0000" y="3075750"/>
            <a:ext cx="8850000" cy="355712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같은 tsvector, 같은 형태소 분석. 차이는 IDF 와 avgdl 뿐 → Hit@10 0.48 에서 0.94 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4강실습/sql/25_eval_all.sql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파라미터와 실패 사례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820000"/>
          <a:ext cx="2599998" cy="1550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6666"/>
                <a:gridCol w="866666"/>
                <a:gridCol w="866666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k1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Hit@10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0.75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0.948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1.2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6B4A"/>
                          </a:solidFill>
                        </a:rPr>
                        <a:t>0.948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0.75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0.938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1.2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0.936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2.0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0.75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0.930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30000" y="820000"/>
          <a:ext cx="6070000" cy="1913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5000"/>
                <a:gridCol w="3035000"/>
              </a:tblGrid>
              <a:tr h="2425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BM25 만 맞힌 질문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벡터만 맞힌 질문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41782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슈트레제만이 이끌었던 당은?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실존하는 발광체로 만들 수 있는 색깔을 뜻하는 단어는?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41782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2012년 RIR의 중위값은?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청와대가 독자적으로 내세운 정책의 명칭은?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  <a:tr h="41782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코페르니쿠스가 처음 학위를 받은 학교는?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일본에서 가장 긴 고속도로의 마지막 지점 도시는?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41782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법무법인 한결이 10년차에 합병된 업체는?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D484A"/>
                          </a:solidFill>
                        </a:rPr>
                        <a:t>인천시에 중국 국적 대학생이 가장 많았던 해는?</a:t>
                      </a:r>
                    </a:p>
                  </a:txBody>
                  <a:tcPr marT="25000" marB="25000" marL="60000" marR="60000" anchor="ctr"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000" y="3013850"/>
            <a:ext cx="8850000" cy="562732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1.b = 0 이 기본값과 같거나 낫다 → 지문 길이가 고른 코퍼스에서는 길이 보간이 잡음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3D484A"/>
                </a:solidFill>
              </a:rPr>
              <a:t>2.BM25 는 고유명사 · 숫자에 강하고, 벡터는 바꿔 말한 질문에 강하다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4강실습/sql/25_eval_all.sql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해석 : 왜 이런 결과인가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266763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1.데이터의 성격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-KLUE-MRC 질문은 지문의 고유명사·숫자를 그대로 쓰는 경우가 많다 → 키워드 검색에 유리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2.벡터가 약한 이유 = 청킹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-MiniLM 의 입력은 128토큰 → 1,000자 지문의 앞 2~3문장만 벡터에 담긴다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-정답이 지문 뒤쪽에 있으면 벡터로는 찾을 수 없다 (강의 : '청킹이 가장 중요')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3.RRF 가 BM25 보다 낮은 이유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-두 목록을 동등하게 섞는다 → 약한 쪽이 강한 쪽의 순위를 끌어내린다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-그래도 둘이 맞히는 질문이 다르다 → 가중치와 청킹을 고치면 역전 가능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4.강의의 결론과 연결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-검색 품질의 8할은 모델이 아니라 코퍼스 정제 · 청킹 · 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4강실습/sql/25_eval_all.sql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3019293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1.청킹 후 재측정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-지문을 문장 2~3개 단위로 나눠 chunks 테이블에 임베딩 → 벡터 Hit@10 이 얼마나 오르나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2.가중 RRF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-BM25 쪽 순위에 가중치 2 → 하이브리드가 BM25 를 넘는가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3.BM25F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-제목 (A) 과 본문 (D) 의 tf 를 따로 세어 가중 합산 — tsvector 의 weights 활용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4.질의어 빈도 (qtf)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-지금은 DISTINCT 로 질의어를 한 번씩만 센다. 반복된 질의어에 가중을 주면?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5.전체 데이터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-loader --splits train validation (지문 약 1.9만)</a:t>
            </a:r>
            <a:br>
              <a:rPr lang="ko" sz="1450"/>
            </a:br>
            <a:r>
              <a:rPr sz="1450">
                <a:solidFill>
                  <a:srgbClr val="3D484A"/>
                </a:solidFill>
              </a:rPr>
              <a:t> -N 이 커지면 IDF 분포와 ts_rank · BM25 격차가 어떻게 변하나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855"/>
            <a:ext cx="6000000" cy="524400"/>
          </a:xfrm>
        </p:spPr>
        <p:txBody>
          <a:bodyPr/>
          <a:lstStyle/>
          <a:p>
            <a:r>
              <a:t>정리와 초기화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820000"/>
            <a:ext cx="8850000" cy="135444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down          # 컨테이너 정지 (데이터 유지)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down -v       # 데이터·캐시까지 삭제 → 처음부터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포트 충돌 (5432 / 5050 사용 중)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DB_PORT=15432 PGADMIN_PORT=15050 docker compose up -d               # macOS / Linux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$env:DB_PORT=15432; $env:PGADMIN_PORT=15050; docker compose up -d   # PowerShell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2454440"/>
            <a:ext cx="8850000" cy="891789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1.pgAdmin 이 안 열림 → 첫 기동은 20~30초, docker compose logs pgadmin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2.25번 벡터 결과가 0 → 임베딩 진행 중. loader 의 '완료' 확인 또는 --embed-only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3.실습 재료 전체 : github.com/hikaMaeng/-ai- / 4강실습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4강실습/README.md</a:t>
            </a: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4강실습/docker-compose.yml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