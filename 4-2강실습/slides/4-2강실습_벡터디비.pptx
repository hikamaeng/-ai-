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Relationship Id="rId3" Type="http://schemas.openxmlformats.org/officeDocument/2006/relationships/image" Target="../media/image1.gif"/><Relationship Id="rId4" Type="http://schemas.openxmlformats.org/officeDocument/2006/relationships/image" Target="../media/image3.png"/><Relationship Id="rId5" Type="http://schemas.openxmlformats.org/officeDocument/2006/relationships/image" Target="../media/image6.g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3.png"/><Relationship Id="rId4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500" y="712750"/>
            <a:ext cx="8302200" cy="4344000"/>
          </a:xfrm>
          <a:prstGeom prst="roundRect">
            <a:avLst>
              <a:gd fmla="val 480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67232" t="0"/>
          <a:stretch/>
        </p:blipFill>
        <p:spPr>
          <a:xfrm>
            <a:off x="8167116" y="15200"/>
            <a:ext cx="966500" cy="11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58500" y="-9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Orbit"/>
              <a:buNone/>
              <a:defRPr sz="3000">
                <a:latin typeface="Orbit"/>
                <a:ea typeface="Orbit"/>
                <a:cs typeface="Orbit"/>
                <a:sym typeface="Orbi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58500" y="712750"/>
            <a:ext cx="8302200" cy="43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rbit"/>
              <a:buChar char="●"/>
              <a:defRPr sz="23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●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●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○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rbit"/>
              <a:buChar char="■"/>
              <a:defRPr sz="1900">
                <a:solidFill>
                  <a:schemeClr val="dk1"/>
                </a:solidFill>
                <a:latin typeface="Orbit"/>
                <a:ea typeface="Orbit"/>
                <a:cs typeface="Orbit"/>
                <a:sym typeface="Orb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descr="a border of fire on a white background .(Tenor 제공)" id="18" name="Google Shape;18;p3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youtube logo with a white play button on a white background(Tenor 제공)" id="19" name="Google Shape;19;p3"/>
          <p:cNvPicPr preferRelativeResize="0"/>
          <p:nvPr/>
        </p:nvPicPr>
        <p:blipFill rotWithShape="1">
          <a:blip r:embed="rId3">
            <a:alphaModFix/>
          </a:blip>
          <a:srcRect b="0" l="39705" r="0" t="53302"/>
          <a:stretch/>
        </p:blipFill>
        <p:spPr>
          <a:xfrm>
            <a:off x="8789575" y="524542"/>
            <a:ext cx="300000" cy="2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뉴런데브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8327" y="116571"/>
            <a:ext cx="1357125" cy="6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neuron_robot_fast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0777" y="0"/>
            <a:ext cx="587548" cy="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섹션 헤더 1">
  <p:cSld name="SECTION_HEADER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0" y="-68855"/>
            <a:ext cx="7227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467">
                <a:solidFill>
                  <a:srgbClr val="FF7043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20650" y="420022"/>
            <a:ext cx="7326300" cy="0"/>
          </a:xfrm>
          <a:prstGeom prst="straightConnector1">
            <a:avLst/>
          </a:prstGeom>
          <a:noFill/>
          <a:ln cap="flat" cmpd="sng" w="9525">
            <a:solidFill>
              <a:srgbClr val="3D484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red youtube logo with a white play button on a white background(Tenor 제공)" id="27" name="Google Shape;27;p4"/>
          <p:cNvPicPr preferRelativeResize="0"/>
          <p:nvPr/>
        </p:nvPicPr>
        <p:blipFill rotWithShape="1">
          <a:blip r:embed="rId2">
            <a:alphaModFix/>
          </a:blip>
          <a:srcRect b="0" l="39705" r="0" t="53302"/>
          <a:stretch/>
        </p:blipFill>
        <p:spPr>
          <a:xfrm>
            <a:off x="8789575" y="524542"/>
            <a:ext cx="300000" cy="21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 title="뉴런데브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327" y="116571"/>
            <a:ext cx="1357125" cy="61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5375" y="375350"/>
            <a:ext cx="9230100" cy="47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861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Roboto Mono Light"/>
              <a:buChar char="●"/>
              <a:defRPr sz="2048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●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●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○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 Mono Light"/>
              <a:buChar char="■"/>
              <a:defRPr sz="19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7671050" y="3669325"/>
            <a:ext cx="1472700" cy="1474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4" title="neuron_robot_fas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0777" y="0"/>
            <a:ext cx="587548" cy="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92704" y="0"/>
            <a:ext cx="375904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1">
  <p:cSld name="TITLE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2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3">
  <p:cSld name="TITLE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4">
  <p:cSld name="TITLE_4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5">
  <p:cSld name="TITLE_5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6">
  <p:cSld name="TITLE_6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7">
  <p:cSld name="TITLE_7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" name="Google Shape;8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 8">
  <p:cSld name="TITLE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README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ocker-compose.y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README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docker-compose.y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%EA%B0%95%EC%8B%A4%EC%8A%B5/jupyter/Dockerfil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00_%ED%99%98%EA%B2%BD%EC%A0%90%EA%B2%80.ipynb" TargetMode="External"/><Relationship Id="rId3" Type="http://schemas.openxmlformats.org/officeDocument/2006/relationships/hyperlink" Target="https://github.com/hikaMaeng/-ai-/blob/main/4-2%EA%B0%95%EC%8B%A4%EC%8A%B5/notebooks/prepare_klue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labutil.p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0_NSW_%EA%B7%B8%EB%A6%AC%EB%94%94%ED%83%90%EC%83%89.ipynb" TargetMode="Externa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0_NSW_%EA%B7%B8%EB%A6%AC%EB%94%94%ED%83%90%EC%83%89.ipynb" TargetMode="Externa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0_NSW_%EA%B7%B8%EB%A6%AC%EB%94%94%ED%83%90%EC%83%89.ipynb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1_HNSW_%EA%B3%84%EC%B8%B5.ipynb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1_HNSW_%EA%B3%84%EC%B8%B5.ipynb" TargetMode="Externa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1_HNSW_%EA%B3%84%EC%B8%B5.ipynb" TargetMode="Externa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1_HNSW_%EA%B3%84%EC%B8%B5.ipynb" TargetMode="Externa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2_IVF_kmeans.ipynb" TargetMode="Externa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2_IVF_kmeans.ipynb" TargetMode="External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2_IVF_kmeans.ipynb" TargetMode="External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2_IVF_kmeans.ipynb" TargetMode="External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2_IVF_kmeans.ipynb" TargetMode="External"/><Relationship Id="rId3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3_PQ_ADC.ipynb" TargetMode="External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3_PQ_ADC.ipynb" TargetMode="External"/><Relationship Id="rId3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3_PQ_ADC.ipynb" TargetMode="External"/><Relationship Id="rId3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13_PQ_ADC.ipynb" TargetMode="External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0_pgvector_%EB%8D%B0%EC%9D%B4%ED%84%B0%EC%99%80%EC%A0%95%EB%8B%B5%EC%A7%80.ipynb" TargetMode="External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1_pgvector_HNSW.ipynb" TargetMode="External"/><Relationship Id="rId3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1_pgvector_HNSW.ipynb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1_pgvector_HNSW.ipynb" TargetMode="External"/><Relationship Id="rId3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1_pgvector_HNSW.ipynb" TargetMode="External"/><Relationship Id="rId3" Type="http://schemas.openxmlformats.org/officeDocument/2006/relationships/image" Target="../media/image2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1_pgvector_HNSW.ipynb" TargetMode="External"/><Relationship Id="rId3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2_pgvector_IVFFlat.ipynb" TargetMode="External"/><Relationship Id="rId3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2_pgvector_IVFFlat.ipynb" TargetMode="External"/><Relationship Id="rId3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2_pgvector_IVFFlat.ipynb" TargetMode="External"/><Relationship Id="rId3" Type="http://schemas.openxmlformats.org/officeDocument/2006/relationships/image" Target="../media/image2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3_pgvector_%EC%96%91%EC%9E%90%ED%99%94.ipynb" TargetMode="External"/><Relationship Id="rId3" Type="http://schemas.openxmlformats.org/officeDocument/2006/relationships/image" Target="../media/image2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3_pgvector_%EC%96%91%EC%9E%90%ED%99%94.ipynb" TargetMode="External"/><Relationship Id="rId3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4_pgvector_%ED%95%84%ED%84%B0.ipynb" TargetMode="External"/><Relationship Id="rId3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4_pgvector_%ED%95%84%ED%84%B0.ipynb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4_pgvector_%ED%95%84%ED%84%B0.ipynb" TargetMode="External"/><Relationship Id="rId3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4_pgvector_%ED%95%84%ED%84%B0.ipynb" TargetMode="External"/><Relationship Id="rId3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24_pgvector_%ED%95%84%ED%84%B0.ipynb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3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3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3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3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3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3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0_%ED%93%A8%EC%A0%84_RRF_MinMax.ipynb" TargetMode="External"/><Relationship Id="rId3" Type="http://schemas.openxmlformats.org/officeDocument/2006/relationships/image" Target="../media/image4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1_%EB%B6%84%ED%8F%AC%EC%A7%84%EB%8B%A8.ipynb" TargetMode="External"/><Relationship Id="rId3" Type="http://schemas.openxmlformats.org/officeDocument/2006/relationships/image" Target="../media/image4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1_%EB%B6%84%ED%8F%AC%EC%A7%84%EB%8B%A8.ipynb" TargetMode="External"/><Relationship Id="rId3" Type="http://schemas.openxmlformats.org/officeDocument/2006/relationships/image" Target="../media/image4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1_%EB%B6%84%ED%8F%AC%EC%A7%84%EB%8B%A8.ipynb" TargetMode="External"/><Relationship Id="rId3" Type="http://schemas.openxmlformats.org/officeDocument/2006/relationships/image" Target="../media/image4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1_%EB%B6%84%ED%8F%AC%EC%A7%84%EB%8B%A8.ipynb" TargetMode="External"/><Relationship Id="rId3" Type="http://schemas.openxmlformats.org/officeDocument/2006/relationships/image" Target="../media/image4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1_%EB%B6%84%ED%8F%AC%EC%A7%84%EB%8B%A8.ipynb" TargetMode="External"/><Relationship Id="rId3" Type="http://schemas.openxmlformats.org/officeDocument/2006/relationships/image" Target="../media/image4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notebooks/31_%EB%B6%84%ED%8F%AC%EC%A7%84%EB%8B%A8.ipynb" TargetMode="External"/><Relationship Id="rId3" Type="http://schemas.openxmlformats.org/officeDocument/2006/relationships/image" Target="../media/image4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README.md" TargetMode="External"/><Relationship Id="rId3" Type="http://schemas.openxmlformats.org/officeDocument/2006/relationships/hyperlink" Target="https://github.com/hikaMaeng/-ai-/blob/main/4-2%EA%B0%95%EC%8B%A4%EC%8A%B5/%EA%B0%95%EC%9D%98%EC%8A%AC%EB%9D%BC%EC%9D%B4%EB%93%9C_%EC%88%98%EC%A0%95%EC%82%AC%ED%95%AD.md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ikaMaeng/-ai-/blob/main/4-2%EA%B0%95%EC%8B%A4%EC%8A%B5/README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5325" y="838600"/>
            <a:ext cx="3730800" cy="8772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>
                <a:solidFill>
                  <a:srgbClr val="000000"/>
                </a:solidFill>
                <a:latin typeface="Gugi"/>
                <a:ea typeface="Gugi"/>
                <a:cs typeface="Gugi"/>
              </a:rPr>
              <a:t>뉴런데브클래스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625" y="1630325"/>
            <a:ext cx="9076800" cy="1985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700">
                <a:solidFill>
                  <a:srgbClr val="3D484A"/>
                </a:solidFill>
                <a:latin typeface="Gugi"/>
                <a:ea typeface="Gugi"/>
                <a:cs typeface="Gugi"/>
              </a:rPr>
              <a:t>현대 AI의 원리와 구조</a:t>
            </a:r>
            <a:br/>
            <a:r>
              <a:rPr sz="5000">
                <a:solidFill>
                  <a:srgbClr val="FF6B4A"/>
                </a:solidFill>
                <a:latin typeface="Gugi"/>
                <a:ea typeface="Gugi"/>
                <a:cs typeface="Gugi"/>
              </a:rPr>
              <a:t>#4-2 벡터디비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2175" y="343875"/>
            <a:ext cx="6591900" cy="28335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67" b="1">
                <a:solidFill>
                  <a:srgbClr val="FF7043"/>
                </a:solidFill>
                <a:latin typeface="Roboto Mono"/>
                <a:ea typeface="Roboto Mono"/>
                <a:cs typeface="Roboto Mono"/>
              </a:rPr>
              <a:t>목차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1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실습 환경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2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NSW · HNSW 직접 구현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3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IVF · PQ 직접 구현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4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pgvector 인덱스 측정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5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필터와 벡터 검색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78" b="1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6 </a:t>
            </a:r>
            <a:r>
              <a:rPr sz="2578">
                <a:solidFill>
                  <a:srgbClr val="3D484A"/>
                </a:solidFill>
                <a:latin typeface="Roboto Mono"/>
                <a:ea typeface="Roboto Mono"/>
                <a:cs typeface="Roboto Mono"/>
              </a:rPr>
              <a:t>점수 퓨전과 분포 진단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실습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4-2강실습/README.md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1020000"/>
            <a:ext cx="8850000" cy="323274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1.강의의 인덱스 원리를 numpy 로 처음부터 만들어 본다</a:t>
            </a:r>
            <a:br/>
            <a:r>
              <a:rPr sz="1450">
                <a:solidFill>
                  <a:srgbClr val="3D484A"/>
                </a:solidFill>
              </a:rPr>
              <a:t> -NSW 그리디 → HNSW 계층 → IVF(k-means) → PQ(ADC)</a:t>
            </a:r>
            <a:br/>
            <a:r>
              <a:rPr sz="1450">
                <a:solidFill>
                  <a:srgbClr val="3D484A"/>
                </a:solidFill>
              </a:rPr>
              <a:t> -그래프로 탐색 경로 · 보로노이 경계 · 거리표를 눈으로 확인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2.같은 현상을 pgvector 로 재 본다</a:t>
            </a:r>
            <a:br/>
            <a:r>
              <a:rPr sz="1450">
                <a:solidFill>
                  <a:srgbClr val="3D484A"/>
                </a:solidFill>
              </a:rPr>
              <a:t> -합성 벡터 10만 개 · 정확한 정답지 → recall@10 과 지연시간</a:t>
            </a:r>
            <a:br/>
            <a:r>
              <a:rPr sz="1450">
                <a:solidFill>
                  <a:srgbClr val="3D484A"/>
                </a:solidFill>
              </a:rPr>
              <a:t> -HNSW · IVFFlat · 양자화 · 필터 전략을 숫자로 비교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3.정답이 있는 한국어 데이터로 검색 품질을 진단한다</a:t>
            </a:r>
            <a:br/>
            <a:r>
              <a:rPr sz="1450">
                <a:solidFill>
                  <a:srgbClr val="3D484A"/>
                </a:solidFill>
              </a:rPr>
              <a:t> -KLUE-MRC 질문 500개 (4-1 과 같은 데이터 · BM25)</a:t>
            </a:r>
            <a:br/>
            <a:r>
              <a:rPr sz="1450">
                <a:solidFill>
                  <a:srgbClr val="3D484A"/>
                </a:solidFill>
              </a:rPr>
              <a:t> -RRF vs Min-Max · 무릎점 · 분리도 · 필터 적합성 · 허브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450">
                <a:solidFill>
                  <a:srgbClr val="3D484A"/>
                </a:solidFill>
              </a:rPr>
              <a:t>4.모든 실습은 Jupyter 노트북</a:t>
            </a:r>
            <a:br/>
            <a:r>
              <a:rPr sz="1450">
                <a:solidFill>
                  <a:srgbClr val="3D484A"/>
                </a:solidFill>
              </a:rPr>
              <a:t> -4-1 의 docker-compose 하나에 Jupyter 를 더했다</a:t>
            </a:r>
            <a:br/>
            <a:r>
              <a:rPr sz="1450">
                <a:solidFill>
                  <a:srgbClr val="3D484A"/>
                </a:solidFill>
              </a:rPr>
              <a:t> -실행하면 그래프 40여 개가 그려진다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실습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컨테이너 3개 + 저장소 폴더 + 외부 자원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4강실습/docker-compose.yml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00" y="1050000"/>
            <a:ext cx="1500000" cy="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D484A"/>
                </a:solidFill>
              </a:rPr>
              <a:t>브라우저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</a:rPr>
              <a:t>localhost:8888 · 5050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0000" y="1000000"/>
            <a:ext cx="1900000" cy="8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D484A"/>
                </a:solidFill>
              </a:rPr>
              <a:t>Jupyter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</a:rPr>
              <a:t>ai4-lab/jupyter · 노트북 12개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0000" y="1000000"/>
            <a:ext cx="2250000" cy="8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D484A"/>
                </a:solidFill>
              </a:rPr>
              <a:t>db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</a:rPr>
              <a:t>pgvector pg17 + mecab-ko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0000" y="2750000"/>
            <a:ext cx="1900000" cy="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D484A"/>
                </a:solidFill>
              </a:rPr>
              <a:t>저장소 폴더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</a:rPr>
              <a:t>호스트 → /work 마운트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0000" y="2750000"/>
            <a:ext cx="2250000" cy="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D484A"/>
                </a:solidFill>
              </a:rPr>
              <a:t>pgAdmin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</a:rPr>
              <a:t>인덱스 크기 · 실행 계획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0000" y="1050000"/>
            <a:ext cx="1450000" cy="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3D484A"/>
                </a:solidFill>
              </a:rPr>
              <a:t>Hugging Face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</a:rPr>
              <a:t>KLUE · MiniLM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0000" y="1425000"/>
            <a:ext cx="650000" cy="0"/>
          </a:xfrm>
          <a:prstGeom prst="line">
            <a:avLst/>
          </a:prstGeom>
          <a:ln w="12700">
            <a:solidFill>
              <a:srgbClr val="9AA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75000" y="1180000"/>
            <a:ext cx="1500000" cy="23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HTTP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0000" y="1425000"/>
            <a:ext cx="850000" cy="0"/>
          </a:xfrm>
          <a:prstGeom prst="line">
            <a:avLst/>
          </a:prstGeom>
          <a:ln w="12700">
            <a:solidFill>
              <a:srgbClr val="9AA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25000" y="1180000"/>
            <a:ext cx="1500000" cy="23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:5432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00000" y="1850000"/>
            <a:ext cx="0" cy="900000"/>
          </a:xfrm>
          <a:prstGeom prst="line">
            <a:avLst/>
          </a:prstGeom>
          <a:ln w="12700">
            <a:solidFill>
              <a:srgbClr val="9AA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50000" y="2180000"/>
            <a:ext cx="1500000" cy="23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notebooks/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25000" y="1850000"/>
            <a:ext cx="0" cy="900000"/>
          </a:xfrm>
          <a:prstGeom prst="line">
            <a:avLst/>
          </a:prstGeom>
          <a:ln w="12700">
            <a:solidFill>
              <a:srgbClr val="9AA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50000" y="2180000"/>
            <a:ext cx="1500000" cy="23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SQL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50000" y="1425000"/>
            <a:ext cx="200000" cy="0"/>
          </a:xfrm>
          <a:prstGeom prst="line">
            <a:avLst/>
          </a:prstGeom>
          <a:ln w="12700">
            <a:solidFill>
              <a:srgbClr val="9AA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00000" y="1700000"/>
            <a:ext cx="3400000" cy="1425000"/>
          </a:xfrm>
          <a:prstGeom prst="line">
            <a:avLst/>
          </a:prstGeom>
          <a:ln w="12700">
            <a:solidFill>
              <a:srgbClr val="9AA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50000" y="370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볼륨 : pgdata(DB · 4-1 과 공유) · pgadmin · hfcache(데이터셋 · 임베딩 모델, loader 와 공유)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Jupyter 는 저장소 루트를 /work 로 연다 → 4강실습/loader · sql 을 import 해서 재사용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90분 진행표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기계가 계산하는 시간은 5분 남짓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4-2강실습/README.md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820000"/>
          <a:ext cx="8850000" cy="1809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1900000"/>
                <a:gridCol w="3200000"/>
                <a:gridCol w="275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노트북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계산 시간 (12코어)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00–10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① 환경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compose up → Jupyter → 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이미지 빌드 1분 30초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10–25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② NSW · HNSW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10 · 11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7초 · 43초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25–40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③ IVF · PQ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12 · 13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12초 · 37초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40–60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④ pgvector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20 · 21 · 22 · 23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8초 · 70초 · 41초 · 22초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60–70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⑤ 필터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29초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70–90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⑥ 퓨전 · 분포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30 · 31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20초 · 11초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0000" y="2739059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00번이 시작하는 KLUE 준비(청크 27,943개 임베딩)는 12코어에서 약 15분 — ②~⑤ 동안 뒤에서 끝난다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4코어 노트북은 2~3배 → 00번을 가장 먼저. ⑥ 전에 '✔ KLUE 준비 완료'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실습 환경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docker-compose.yml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4-1 컴포즈에 jupyter 서비스와 빌드 설정을 더했다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4강실습/docker-compose.yml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5300000" cy="2238172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db: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command: 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postgres -c shared_buffers=512MB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-c maintenance_work_mem=1GB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-c max_parallel_maintenance_workers=4 -c jit=off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shm_size: 1g          # 병렬 빌드용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jupyter: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build: ./jupyter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ports: ["${JUPYTER_PORT:-8888}:8888"]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volumes: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- ..:/work          # 저장소 루트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- hfcache:/cache    # loader 와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0000" y="820000"/>
            <a:ext cx="3430000" cy="192100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1.실행</a:t>
            </a:r>
            <a:br/>
            <a:r>
              <a:rPr sz="1250">
                <a:solidFill>
                  <a:srgbClr val="3D484A"/>
                </a:solidFill>
              </a:rPr>
              <a:t> -cd -ai-/4강실습</a:t>
            </a:r>
            <a:br/>
            <a:r>
              <a:rPr sz="1250">
                <a:solidFill>
                  <a:srgbClr val="3D484A"/>
                </a:solidFill>
              </a:rPr>
              <a:t> -docker compose up -d --build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 4-1 을 했다면</a:t>
            </a:r>
            <a:br/>
            <a:r>
              <a:rPr sz="1250">
                <a:solidFill>
                  <a:srgbClr val="3D484A"/>
                </a:solidFill>
              </a:rPr>
              <a:t> -Jupyter 이미지만 새로 빌드</a:t>
            </a:r>
            <a:br/>
            <a:r>
              <a:rPr sz="1250">
                <a:solidFill>
                  <a:srgbClr val="3D484A"/>
                </a:solidFill>
              </a:rPr>
              <a:t> -db 는 설정이 바뀌어 재생성, 데이터는 그대로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3.shm_size 가 없으면</a:t>
            </a:r>
            <a:br/>
            <a:r>
              <a:rPr sz="1250">
                <a:solidFill>
                  <a:srgbClr val="3D484A"/>
                </a:solidFill>
              </a:rPr>
              <a:t> -병렬 HNSW 빌드가 공유 메모리 부족으로 실패 (도커 기본 64MB)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Jupyter 이미지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python:3.12-slim + 과학 계산 + 한글 글꼴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4강실습/jupyter/Dockerfile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164940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FROM python:3.12-slim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apt-get install -y fonts-nanum          # 그래프 한글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RUN pip install jupyterlab numpy pandas matplotlib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psycopg[binary] pgvector fastembed pyarrow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ENV PYTHONPATH=/work/4강실습/loader         # 4-1 load.py 재사용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CMD jupyter lab --IdentityProvider.token=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      --ServerApp.root_dir=/work \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      --LabApp.default_url=/lab/tree/4-2강실습/notebooks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2559400"/>
            <a:ext cx="8850000" cy="82389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1.http://localhost:8888 → 4-2강실습/notebooks 가 바로 열린다 (로그인 없음)</a:t>
            </a:r>
            <a:br/>
            <a:r>
              <a:rPr sz="1300">
                <a:solidFill>
                  <a:srgbClr val="3D484A"/>
                </a:solidFill>
              </a:rPr>
              <a:t> -로컬 실습 전용 설정 — 외부에 노출하지 말 것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2.셀 실행 Shift+Enter · 전체 실행 Run → Run All Cells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00 환경 점검 · KLUE 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3부 데이터를 백그라운드로 먼저 시작한다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4-2강실습/notebooks/00_환경점검.ipynb</a:t>
            </a: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prepare_klue.py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681025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import subprocess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subprocess.Popen("python prepare_klue.py &gt; prepare.log 2&gt;&amp;1", shell=True)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# 1) 텍스트  2) BM25 역색인  3) 지문 임베딩  4) 청크 임베딩  — 이미 있으면 건너뜀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0000" y="1591025"/>
          <a:ext cx="8850000" cy="1292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585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확인 항목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PostgreSQL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17.11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pgvector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0.8.6  (iterative scan 은 0.8 부터)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maintenance_work_mem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1GB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병렬 빌드 워커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0000" y="299321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청크 = 문장 경계로 250자, '제목 + 청크'를 임베딩 (Contextual Retrieval 을 가장 단순하게 흉내)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지문 5,309개 → 청크 27,943개 (평균 5.3개). 4-1 을 마쳤다면 청크 단계만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labutil.py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모든 노트북이 쓰는 공용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4-2강실습/notebooks/labutil.py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1455725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def connect():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conn = psycopg.connect(DSN, autocommit=True)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conn.prepare_threshold = None      # ← 이 줄이 없으면 측정이 틀어진다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register_vector(conn)              # numpy 배열 ↔ vector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def pg_bench(conn, table, ds, k=10):   # 질의 200개 → recall@k · 지연시간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def brute_knn(X, Q, k):                # 정확한 k-NN = 모든 실험의 정답지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000" y="2365725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psycopg 는 같은 SQL 을 여러 번 실행하면 서버에 prepare 해 두고 실행 계획을 재사용한다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SET hnsw.ef_search 를 바꿔도 옛 계획이 쓰인다 — 실제로 모든 설정에서 recall 이 같게 나왔다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NSW · HNSW 직접 구현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NSW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점을 하나씩 넣으며 가까운 M개와 친구 맺기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4-2강실습/notebooks/10_NSW_그리디탐색.ipynb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102964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for i in range(1, len(X)):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for j in np.argsort(dist(X[:i], X[i]))[:M]:   # 이미 있는 점 중 가까운 M개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nbrs[i].append(j); nbrs[j].append(i)     # 양방향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if len(nbrs[j]) &gt; 2 * M:                  # 넘치면 가장 먼 친구를 끊는다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nbrs[j].remove(max(nbrs[j], key=...))</a:t>
            </a:r>
          </a:p>
        </p:txBody>
      </p:sp>
      <p:pic>
        <p:nvPicPr>
          <p:cNvPr id="6" name="Picture 5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769" y="1939640"/>
            <a:ext cx="5788461" cy="16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679640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먼저 들어온 점은 멀어도 연결된다 → 지름길. 친구까지 평균 거리 : 처음 30개 0.57 · 마지막 100개 0.38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그리디 탐색과 지역 최적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더 가까운 친구가 없으면 멈춘다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4-2강실습/notebooks/10_NSW_그리디탐색.ipynb</a:t>
            </a:r>
          </a:p>
        </p:txBody>
      </p:sp>
      <p:pic>
        <p:nvPicPr>
          <p:cNvPr id="5" name="Picture 4" descr="c08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4999999" cy="2978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70000" y="820000"/>
            <a:ext cx="3730000" cy="130187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1.질의 500개 중 최근접을 맞힌 비율 35%</a:t>
            </a:r>
            <a:br/>
            <a:r>
              <a:rPr sz="1250">
                <a:solidFill>
                  <a:srgbClr val="3D484A"/>
                </a:solidFill>
              </a:rPr>
              <a:t> -평균 거리 계산 29회 (전수 300회)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2.오른쪽 : 친구들이 모두 멀어 멈췄다</a:t>
            </a:r>
            <a:br/>
            <a:r>
              <a:rPr sz="1250">
                <a:solidFill>
                  <a:srgbClr val="3D484A"/>
                </a:solidFill>
              </a:rPr>
              <a:t> -그 너머에 진짜 최근접 = 지역 최적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3.강의 슬라이드 6 의 '운 나쁘면 진짜 최근접을 놓친다'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후보 폭 ef 와 이웃 수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한 점이 아니라 후보 ef 개를 들고 다닌다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4-2강실습/notebooks/10_NSW_그리디탐색.ipynb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820000"/>
          <a:ext cx="8850000" cy="103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500000"/>
                <a:gridCol w="2150000"/>
                <a:gridCol w="2150000"/>
                <a:gridCol w="215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도달 가능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ef = 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ef = 4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ef = 16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49%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0.06 / 9회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0.07 / 11회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0.43 / 39회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99%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0.35 / 20회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0.78 / 43회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0.99 / 64회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100%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0.93 / 46회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1.00 / 53회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1.00 / 66회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0000" y="1963748"/>
            <a:ext cx="8850000" cy="103852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1.칸 = recall@1 / 질의당 거리 계산 (전수 300회)</a:t>
            </a:r>
            <a:br/>
            <a:r>
              <a:rPr sz="1300">
                <a:solidFill>
                  <a:srgbClr val="3D484A"/>
                </a:solidFill>
              </a:rPr>
              <a:t> -ef ↑ → recall ↑ · 비용 ↑ — HNSW 의 ef_search 가 이것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2.M=2 는 군집끼리 이어지지 않아 섬이 생긴다</a:t>
            </a:r>
            <a:br/>
            <a:r>
              <a:rPr sz="1300">
                <a:solidFill>
                  <a:srgbClr val="3D484A"/>
                </a:solidFill>
              </a:rPr>
              <a:t> -진입점에서 절반에만 도달 → ef 를 키워도 섬 밖은 못 찾는다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HNSW 층 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층 = floor(−ln U × mL), mL = 1/ln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4-2강실습/notebooks/11_HNSW_계층.ipynb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301422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lvl = int(-np.log(rng.random()) * mL)     # P(층 ≥ l) = M^(-l)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0000" y="1211422"/>
          <a:ext cx="8850000" cy="77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000"/>
                <a:gridCol w="1150000"/>
                <a:gridCol w="1050000"/>
                <a:gridCol w="1000000"/>
                <a:gridCol w="1000000"/>
                <a:gridCol w="1000000"/>
                <a:gridCol w="10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층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올라간 노드 (100만, M=16)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1,000,000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62,397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3,937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260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기대값 N·M^(−층)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1,000,000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62,500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3,906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244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0000" y="2096733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한 층 올라갈 때마다 노드가 1/M 로 준다 — KTX 역처럼 위로 갈수록 드물다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0층은 이웃 2M개, 위층은 M개 (논문 권장)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층을 내려오며 좁힌다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위층에서 멀리 건너가고, 0층에서 정밀하게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4-2강실습/notebooks/11_HNSW_계층.ipynb</a:t>
            </a:r>
          </a:p>
        </p:txBody>
      </p:sp>
      <p:pic>
        <p:nvPicPr>
          <p:cNvPr id="5" name="Picture 4" descr="c0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6" y="820000"/>
            <a:ext cx="7961627" cy="20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2960000"/>
            <a:ext cx="8850000" cy="60926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1.주황 = 방문한 노드. 위층은 노드가 몇 개뿐이라 몇 걸음에 질의(★) 쪽으로 건너간다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2.아래층은 위층이 찾아 준 출발점에서 시작 → 헛걸음이 적다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계층의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같은 그래프를 위층부터 vs 0층부터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4-2강실습/notebooks/11_HNSW_계층.ipynb</a:t>
            </a:r>
          </a:p>
        </p:txBody>
      </p:sp>
      <p:pic>
        <p:nvPicPr>
          <p:cNvPr id="5" name="Picture 4" descr="c0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4299999" cy="27565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0000" y="820000"/>
            <a:ext cx="4430000" cy="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/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50000" y="820000"/>
          <a:ext cx="4500000" cy="103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1850000"/>
                <a:gridCol w="185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위층부터 recall / 비교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0층부터 recall / 비교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1,000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1.000 / 142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1.000 / 135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4,000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0.999 / 134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0.990 / 157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16,000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0.990 / 232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0.810 / 268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50000" y="1963748"/>
            <a:ext cx="4450000" cy="59275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1.N 이 16배 → 비교는 142 → 232회 (전수는 16배)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2.N 이 커지면 0층부터는 군집 사이를 못 건넌다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이웃 선택 휴리스틱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강의의 '가장 가까운 M개' 와 실제 HNSW 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4-2강실습/notebooks/11_HNSW_계층.ipynb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843712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for d, c in candidates:                    # base 에 가까운 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if len(out) == M: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if not out or d &lt; dist(X[c], X[out]).min():   # 이미 고른 이웃보다 base 에 가까울 때만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out.append(c)</a:t>
            </a:r>
          </a:p>
        </p:txBody>
      </p:sp>
      <p:pic>
        <p:nvPicPr>
          <p:cNvPr id="6" name="Picture 5" descr="c10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1753712"/>
            <a:ext cx="4699998" cy="28815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70000" y="1753712"/>
            <a:ext cx="4030000" cy="100550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 16차원 군집 1만6천 개, ef=32</a:t>
            </a:r>
            <a:br/>
            <a:r>
              <a:rPr sz="1250">
                <a:solidFill>
                  <a:srgbClr val="3D484A"/>
                </a:solidFill>
              </a:rPr>
              <a:t> -휴리스틱 0.990 · 가장 가까운 M개 0.715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2.가까운 것만 고르면 이웃이 한 군집에 몰린다</a:t>
            </a:r>
            <a:br/>
            <a:r>
              <a:rPr sz="1250">
                <a:solidFill>
                  <a:srgbClr val="3D484A"/>
                </a:solidFill>
              </a:rPr>
              <a:t> -다른 군집으로 가는 다리가 약해진다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IVF · PQ 직접 구현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할당 → 갱신 → 수렴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4-2강실습/notebooks/12_IVF_kmeans.ipynb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471856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lab = sqdist(X, C).argmin(1)                          # ② 가장 가까운 중심에 할당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 = np.array([X[lab == j].mean(0) for j in range(k)])  # ③ 멤버 평균으로 갱신</a:t>
            </a:r>
          </a:p>
        </p:txBody>
      </p:sp>
      <p:pic>
        <p:nvPicPr>
          <p:cNvPr id="6" name="Picture 5" descr="c0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9" y="1381856"/>
            <a:ext cx="7186222" cy="18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321856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배경색 = 이 위치의 질의가 가는 군집 (보로노이 영역) · 화살표 = 중심이 평균으로 이동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초기값 의존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무작위 시작 vs k-means++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4-2강실습/notebooks/12_IVF_kmeans.ipynb</a:t>
            </a:r>
          </a:p>
        </p:txBody>
      </p:sp>
      <p:pic>
        <p:nvPicPr>
          <p:cNvPr id="5" name="Picture 4" descr="c07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8850000" cy="24313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341318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시드 20개 : 무작위 시작은 한 군집에 중심 두 개가 몰리는 실패가 생긴다 (최악 21,706)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k-means++ 는 먼 점일수록 중심으로 잘 뽑혀 실패가 드물다 (최악 6,135)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IVF 검색과 경계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가까운 nprobe 개 군집만 뒤진다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4-2강실습/notebooks/12_IVF_kmeans.ipynb</a:t>
            </a:r>
          </a:p>
        </p:txBody>
      </p:sp>
      <p:pic>
        <p:nvPicPr>
          <p:cNvPr id="5" name="Picture 4" descr="c09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351" y="820000"/>
            <a:ext cx="5843298" cy="26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510000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질의는 A 영역, 진짜 최근접은 경계 너머 B 군집 → nprobe=1 은 놓치고(118회) nprobe=2 는 찾는다(229회)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nlist · nprobe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32차원 2만 개, 군집끼리 겹치게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4-2강실습/notebooks/12_IVF_kmeans.ipynb</a:t>
            </a:r>
          </a:p>
        </p:txBody>
      </p:sp>
      <p:pic>
        <p:nvPicPr>
          <p:cNvPr id="5" name="Picture 4" descr="c1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09" y="820000"/>
            <a:ext cx="7273582" cy="23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3260000"/>
            <a:ext cx="8850000" cy="79912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1.nlist ≈ √N(141) 곡선이 같은 비용에서 recall 이 가장 높다</a:t>
            </a:r>
            <a:br/>
            <a:r>
              <a:rPr sz="1250">
                <a:solidFill>
                  <a:srgbClr val="3D484A"/>
                </a:solidFill>
              </a:rPr>
              <a:t> -20 은 군집이 커서 비싸고, 600 은 경계가 많아 recall ↓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2.군집 크기 1 ~ 348 — 큰 리스트를 뒤지는 질의만 느리다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학습 비용 N·k·d·T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표본으로 중심만 학습해도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4-2강실습/notebooks/12_IVF_kmeans.ipynb</a:t>
            </a:r>
          </a:p>
        </p:txBody>
      </p:sp>
      <p:pic>
        <p:nvPicPr>
          <p:cNvPr id="5" name="Picture 4" descr="c13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66" y="820000"/>
            <a:ext cx="7932867" cy="24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31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반복 T=10 고정, 3회 중 최솟값 : 학습 시간이 N·k·d·T 에 비례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10% 표본으로 중심을 학습하고 전체는 배정만 해도 recall 0.843 → 0.827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PQ 코드 — 8바이트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64차원 → 8조각 × 256 대표점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4-2강실습/notebooks/13_PQ_ADC.ipynb</a:t>
            </a:r>
          </a:p>
        </p:txBody>
      </p:sp>
      <p:pic>
        <p:nvPicPr>
          <p:cNvPr id="5" name="Picture 4" descr="c0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55" y="820000"/>
            <a:ext cx="8509090" cy="20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291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벡터 하나 = 조각마다 대표점 번호(0~255) 8개 = 8바이트 (float32 256B 의 1/32)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강의 슬라이드 14 의 '8차원 압축'이 아니라 8바이트 코드 — 좌표가 아니라 번호다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ADC — 표 조회로 거리 계산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질의는 압축하지 않고 8×256 거리표를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4-2강실습/notebooks/13_PQ_ADC.ipynb</a:t>
            </a:r>
          </a:p>
        </p:txBody>
      </p:sp>
      <p:pic>
        <p:nvPicPr>
          <p:cNvPr id="5" name="Picture 4" descr="c0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53" y="820000"/>
            <a:ext cx="7896694" cy="17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2660000"/>
            <a:ext cx="8850000" cy="657784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표 조회 합                ‖q − x̂‖² = 144.5538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복원 벡터로 직접 계산      ‖q − x̂‖² = 144.5538   ← 똑같다 (거리²는 조각별 합)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원본 벡터와의 실제 거리    ‖q − x‖²  = 187.2108   ← 이 차이가 압축 손실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PQ 의 정확도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대략은 맞고, 가까운 쪽 순위가 뒤섞인다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4-2강실습/notebooks/13_PQ_ADC.ipynb</a:t>
            </a:r>
          </a:p>
        </p:txBody>
      </p:sp>
      <p:pic>
        <p:nvPicPr>
          <p:cNvPr id="5" name="Picture 4" descr="c09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43" y="820000"/>
            <a:ext cx="7494714" cy="25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410000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손실 압축이라 가까운 후보들끼리의 순서를 잘 못 가린다 → 후보를 넉넉히 뽑아 원본으로 재정렬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재정렬 · 조각 수 · 잔차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IVF-PQ 가 표준인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4-2강실습/notebooks/13_PQ_ADC.ipynb</a:t>
            </a:r>
          </a:p>
        </p:txBody>
      </p:sp>
      <p:pic>
        <p:nvPicPr>
          <p:cNvPr id="5" name="Picture 4" descr="c1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37" y="820000"/>
            <a:ext cx="7106526" cy="215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3060000"/>
            <a:ext cx="8850000" cy="79912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1.PQ 만 0.31 → 후보 100개 재정렬 0.88 · 500개 1.00</a:t>
            </a:r>
            <a:br/>
            <a:r>
              <a:rPr sz="1250">
                <a:solidFill>
                  <a:srgbClr val="3D484A"/>
                </a:solidFill>
              </a:rPr>
              <a:t> -m=16(16B) + 재정렬 100 이면 1.00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2.잔차(벡터 − 군집 중심)를 압축하면 같은 8바이트로 오차 29.6 → 18.8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pgvector 인덱스 측정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실습 데이터와 정답지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군집형 · 무구조형, 각 10만 × 128차원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4-2강실습/notebooks/20_pgvector_데이터와정답지.ipynb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634543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with cur.copy("COPY vec_clu (id, cluster, tag, emb) FROM STDIN WITH (FORMAT BINARY)") as cp: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cp.set_types(["int4", "int4", "int4", "vector"])      # 10만 행 1초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idx = brute_knn(X, Q, 100)                                  # 질의 200개의 정답 top-100 → vec_gt</a:t>
            </a:r>
          </a:p>
        </p:txBody>
      </p:sp>
      <p:pic>
        <p:nvPicPr>
          <p:cNvPr id="6" name="Picture 5" descr="c0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62" y="1544543"/>
            <a:ext cx="6723076" cy="19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534543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최근접 / 평균 거리 : 군집형 0.59 · 무구조형 0.77 — 고차원에서는 모든 점이 비슷하게 멀다 (거리 집중)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HNSW 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인덱스가 테이블보다 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4-2강실습/notebooks/21_pgvector_HNSW.ipynb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48735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vec_clu_hnsw ON vec_clu USING hnsw (emb vector_l2_ops)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WITH (m = 16, ef_construction = 64);         -- 5.0초 (병렬)</a:t>
            </a:r>
          </a:p>
        </p:txBody>
      </p:sp>
      <p:pic>
        <p:nvPicPr>
          <p:cNvPr id="6" name="Picture 5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345" y="1397350"/>
            <a:ext cx="5129310" cy="125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00" y="2737350"/>
          <a:ext cx="8000000" cy="77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  <a:gridCol w="20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빌드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인덱스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테이블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군집형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5.0초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79.4MB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59.2MB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무구조형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7.0초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79.4MB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56.0MB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거리 척도와 인덱스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metric-agnostic 이지만 인덱스는 척도 하나에 묶인다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4-2강실습/notebooks/21_pgvector_HNSW.ipynb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126205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EXPLAIN SELECT id FROM vec_clu ORDER BY emb &lt;-&gt; $q LIMIT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Index Scan using vec_clu_hnsw on vec_clu          -- 1.2ms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EXPLAIN SELECT id FROM vec_clu ORDER BY emb &lt;=&gt; $q LIMIT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Parallel Seq Scan on vec_clu                      -- 14ms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-- vector_l2_ops 인덱스는 &lt;=&gt;(코사인)에 쓰이지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000" y="217205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HNSW 알고리즘은 어떤 척도로도 만들 수 있지만, 만든 인덱스는 빌드 때 고른 척도에만 쓰인다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임베딩이 정규화돼 있으면 코사인 · 내적 · L2 순위가 같으니 질의와 인덱스의 연산자만 맞추면 된다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ef_search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SET hnsw.ef_search = 10 … 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4-2강실습/notebooks/21_pgvector_HNSW.ipynb</a:t>
            </a:r>
          </a:p>
        </p:txBody>
      </p:sp>
      <p:pic>
        <p:nvPicPr>
          <p:cNvPr id="5" name="Picture 4" descr="c0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30" y="820000"/>
            <a:ext cx="7340540" cy="24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36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기본값 40 : 군집형 recall 0.916 · 무구조형 0.406 — 같은 설정이라도 데이터에 따라 크게 다르다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전수 비교(점선, 약 13ms)보다 10배 이상 빠르다. 1ms 아래는 잡음이 섞이므로 경향만 본다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함정 : LIMIT &gt; ef_search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오류도 경고도 없이 적게 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4-2강실습/notebooks/21_pgvector_HNSW.ipynb</a:t>
            </a:r>
          </a:p>
        </p:txBody>
      </p:sp>
      <p:pic>
        <p:nvPicPr>
          <p:cNvPr id="5" name="Picture 4" descr="c09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249" y="820000"/>
            <a:ext cx="3915501" cy="1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2810000"/>
            <a:ext cx="8850000" cy="48735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SET hnsw.ef_search = 40;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id FROM vec_clu ORDER BY emb &lt;-&gt; $q LIMIT 100;   -- 40행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000" y="3387350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재정렬용 후보를 넉넉히 받으려면 ef_search ≥ LIMIT (또는 iterative scan)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빌드 파라미터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이웃 목록이 커지면 인덱스 · 빌드 · recall 이 함께 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4-2강실습/notebooks/21_pgvector_HNSW.ipynb</a:t>
            </a:r>
          </a:p>
        </p:txBody>
      </p:sp>
      <p:pic>
        <p:nvPicPr>
          <p:cNvPr id="5" name="Picture 4" descr="c11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8850000" cy="1862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2772092"/>
            <a:ext cx="8850000" cy="79912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1.m 4 · 8 · 16 · 32 → recall 0.28 · 0.71 · 0.92 · 0.97 (ef_search 40)</a:t>
            </a:r>
            <a:br/>
            <a:r>
              <a:rPr sz="1250">
                <a:solidFill>
                  <a:srgbClr val="3D484A"/>
                </a:solidFill>
              </a:rPr>
              <a:t> -인덱스 65 → 98MB — 대부분은 벡터 복사본이라 두 배까지 안 커진다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2.INSERT 는 즉시 검색된다 (2,000건 건당 수 ms). 삭제는 표시 후 VACUUM 이 이웃을 다시 잇는다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IVFFlat : lists · probes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k-means 중심 + 역색인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4-2강실습/notebooks/22_pgvector_IVFFlat.ipynb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471856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vec_clu_ivf ON vec_clu USING ivfflat (emb vector_l2_ops) WITH (lists = 316);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SET ivfflat.probes = 4;          -- 기본값 1</a:t>
            </a:r>
          </a:p>
        </p:txBody>
      </p:sp>
      <p:pic>
        <p:nvPicPr>
          <p:cNvPr id="6" name="Picture 5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222" y="1381856"/>
            <a:ext cx="6155555" cy="20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471856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probes=1(기본값) recall 0.86 — 기본값 그대로 쓰지 말 것. 빌드 lists 100 · 316 → 0.5 · 0.8초, 1265 → 8초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승자는 데이터가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IVFFlat vs HNSW, 군집형 vs 무구조형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4-2강실습/notebooks/22_pgvector_IVFFlat.ipynb</a:t>
            </a:r>
          </a:p>
        </p:txBody>
      </p:sp>
      <p:pic>
        <p:nvPicPr>
          <p:cNvPr id="5" name="Picture 4" descr="c0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742" y="820000"/>
            <a:ext cx="6414516" cy="2050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0000" y="2960000"/>
          <a:ext cx="8850000" cy="77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000"/>
                <a:gridCol w="2000000"/>
                <a:gridCol w="2000000"/>
                <a:gridCol w="20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데이터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HNSW ef_search 40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IVFFlat probes 4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IVFFlat probes 64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군집형 (중심 200개)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0.916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1.000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무구조형 (등방 가우시안)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0.406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0.109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0.668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분포가 바뀌면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IVFFlat 중심은 INSERT 때 다시 학습하지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4-2강실습/notebooks/22_pgvector_IVFFlat.ipynb</a:t>
            </a:r>
          </a:p>
        </p:txBody>
      </p:sp>
      <p:pic>
        <p:nvPicPr>
          <p:cNvPr id="5" name="Picture 4" descr="c0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4599999" cy="2381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70000" y="820000"/>
            <a:ext cx="4130000" cy="130187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1.군집 100개일 때 인덱스를 만들고 나머지 100개 군집을 INSERT</a:t>
            </a:r>
            <a:br/>
            <a:r>
              <a:rPr sz="1250">
                <a:solidFill>
                  <a:srgbClr val="3D484A"/>
                </a:solidFill>
              </a:rPr>
              <a:t> -새 벡터는 옛 중심 중 가까운 리스트로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2.새 군집에 정답이 있는 질의 recall 0.49</a:t>
            </a:r>
            <a:br/>
            <a:r>
              <a:rPr sz="1250">
                <a:solidFill>
                  <a:srgbClr val="3D484A"/>
                </a:solidFill>
              </a:rPr>
              <a:t> -REINDEX (0.8초) 후 1.00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3.빈 테이블에 IVFFlat 을 먼저 만들지 말 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양자화 인덱스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pgvector 에는 PQ 가 없다 → halfvec · 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4-2강실습/notebooks/23_pgvector_양자화.ipynb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456362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ON vec_clu USING hnsw ((emb::halfvec(128)) halfvec_l2_ops);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ON vec_clu USING hnsw ((binary_quantize(emb)::bit(128)) bit_hamming_ops);</a:t>
            </a:r>
          </a:p>
        </p:txBody>
      </p:sp>
      <p:pic>
        <p:nvPicPr>
          <p:cNvPr id="6" name="Picture 5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344" y="1366362"/>
            <a:ext cx="6439312" cy="160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00" y="3056362"/>
          <a:ext cx="8000000" cy="77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  <a:gridCol w="20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float32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halfvec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1비트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인덱스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79.4MB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54.4MB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30.4MB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빌드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5.1초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4.1초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3.7초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1비트 + 원본 재정렬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인덱스는 작게, 정확도는 원본으로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4-2강실습/notebooks/23_pgvector_양자화.ipynb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634543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id FROM (SELECT id, emb FROM vec_clu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         ORDER BY binary_quantize(emb)::bit(128) &lt;~&gt; binary_quantize($q) LIMIT 400) 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ORDER BY emb &lt;-&gt; $q LIMIT 10;</a:t>
            </a:r>
          </a:p>
        </p:txBody>
      </p:sp>
      <p:pic>
        <p:nvPicPr>
          <p:cNvPr id="6" name="Picture 5" descr="c0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222" y="1544543"/>
            <a:ext cx="6451555" cy="19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534543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halfvec 0.981 ≈ float32 0.985 · 1비트 단독 0.149 → 후보 400개 재정렬 0.975 (2ms)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13번 PQ + 재정렬과 같은 원리 : 인덱스는 RAM 을 아끼고, 순위는 원본이 정한다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필터와 벡터 검색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PostFilter 의 함정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tag &lt; 1 (1%) +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4-2강실습/notebooks/24_pgvector_필터.ipynb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843712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Limit (actual rows=0)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-&gt;  Index Scan using vec_clu_hnsw on vec_clu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Filter: (tag &lt;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    Rows Removed by Filter: 40            -- ef_search 40개 중 통과 0</a:t>
            </a:r>
          </a:p>
        </p:txBody>
      </p:sp>
      <p:pic>
        <p:nvPicPr>
          <p:cNvPr id="6" name="Picture 5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162" y="1753712"/>
            <a:ext cx="6275675" cy="18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643712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1% 필터면 LIMIT 10 에 평균 0.4행 — 4-1 슬라이드 'PostFilter : 최종 결과가 아예 없음' 이 이것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PreFilter 는 직접 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B-tree 가 있어도 플래너는 HNSW 를 고른다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4-2강실습/notebooks/24_pgvector_필터.ipynb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102964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WITH c AS MATERIALIZED (SELECT id, emb FROM vec_clu WHERE tag &lt;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id FROM c ORDER BY emb &lt;-&gt; $q LIMIT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CTE c -&gt;  Bitmap Index Scan on vec_clu_tag (actual rows=994)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-&gt;  Sort  -&gt;  CTE Scan on c                -- 994행만 정확히 정렬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000" y="193964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LIMIT 10 이 붙으면 플래너는 HNSW 스캔이 가장 싸다고 보고 필터는 나중에 건다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필터를 먼저 실행하게 가두면 언제나 정확(recall 1.0), 비용은 통과한 행 수에 비례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세 전략의 교차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선택도에 따라 최선이 바뀐다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4-2강실습/notebooks/24_pgvector_필터.ipynb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285928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SET hnsw.iterative_scan = relaxed_order;   -- 모자라면 그래프를 더 탐색 (상한 2만 행)</a:t>
            </a:r>
          </a:p>
        </p:txBody>
      </p:sp>
      <p:pic>
        <p:nvPicPr>
          <p:cNvPr id="6" name="Picture 5" descr="c0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36" y="1195928"/>
            <a:ext cx="7940928" cy="20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285928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좁으면(1%) PreFilter · 중간은 iterative scan · 넓으면 사후 필터 — 4-1 「필터링 선택 가이드」 그대로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iterative relaxed : 1% 필터에서도 10행 · recall 0.82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필터 적합성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선택도가 같아도(0.5%) 방향이 다르면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4-2강실습/notebooks/24_pgvector_필터.ipynb</a:t>
            </a:r>
          </a:p>
        </p:txBody>
      </p:sp>
      <p:pic>
        <p:nvPicPr>
          <p:cNvPr id="5" name="Picture 4" descr="c1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86" y="820000"/>
            <a:ext cx="8631428" cy="1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00" y="2810000"/>
            <a:ext cx="8850000" cy="592750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1.질의와 같은 군집으로 필터 : 사후 필터로도 9행 · 0.8ms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250">
                <a:solidFill>
                  <a:srgbClr val="3D484A"/>
                </a:solidFill>
              </a:rPr>
              <a:t>2.먼 군집으로 필터 : iterative 로도 recall 0.27 · 26ms — 탐색 상한까지 헤맨다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부분 인덱스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자주 쓰는 필터는 그 행만으로 그래프를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4-2강실습/notebooks/24_pgvector_필터.ipynb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471856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CREATE INDEX vec_clu_hnsw_tag7 ON vec_clu USING hnsw (emb vector_l2_ops) WHERE tag = 7;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-- 약 1천 행, 0.9초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0000" y="1381856"/>
          <a:ext cx="8850000" cy="77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0000"/>
                <a:gridCol w="1800000"/>
                <a:gridCol w="1800000"/>
                <a:gridCol w="18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recall@10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받은 행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ms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전체 HNSW + 사후 필터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0.035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부분 HNSW (WHERE tag = 7)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1.000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10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7043"/>
                          </a:solidFill>
                        </a:rPr>
                        <a:t>0.3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0000" y="2267167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4-1 슬라이드 '부분집합 그래프는 불가능' → PG 에서는 부분 인덱스로 가능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값이 적고 고정된 필터(테넌트 · 카테고리)에. 값이 많으면 파티셔닝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6050" y="1767925"/>
            <a:ext cx="6591900" cy="5727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latin typeface="Gugi"/>
                <a:ea typeface="Gugi"/>
                <a:cs typeface="Gugi"/>
              </a:rPr>
              <a:t>점수 퓨전과 분포 진단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세 가지 검색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KLUE-MRC 질문 500개, 각 상위 50개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812724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SELECT doc_id, max(sim) FROM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SELECT doc_id, 1 - (embedding &lt;=&gt; $q) AS sim FROM doc_chunks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    ORDER BY embedding &lt;=&gt; $q LIMIT 200) c            -- 청크 200개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GROUP BY doc_id ORDER BY 2 DESC LIMIT 50;             -- 지문별 최고 유사도</a:t>
            </a:r>
          </a:p>
        </p:txBody>
      </p:sp>
      <p:pic>
        <p:nvPicPr>
          <p:cNvPr id="6" name="Picture 5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800" y="1722724"/>
            <a:ext cx="3950400" cy="18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612724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청크 임베딩으로 벡터 Hit@10 0.39 → 0.50 (4-1 의 '지문 뒤쪽은 벡터에 안 담긴다' 를 일부 해결)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그래도 BM25 0.94 — 질문이 지문의 고유명사를 그대로 쓰는 데이터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점수 척도가 다르다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그냥 더하면 안 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pic>
        <p:nvPicPr>
          <p:cNvPr id="5" name="Picture 4" descr="c0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8850000" cy="20434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2953406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BM25 5~72 · 코사인 0.45~0.96 → 더하면 BM25 가 다 정한다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한쪽 목록에만 있는 문서는 다른 쪽 점수가 아예 없다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RRF 곡선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강의의 '변곡점 조절' 과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301422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RRF(d) = Σ 1 / (k + rank)</a:t>
            </a:r>
          </a:p>
        </p:txBody>
      </p:sp>
      <p:pic>
        <p:nvPicPr>
          <p:cNvPr id="6" name="Picture 5" descr="c0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28" y="1211422"/>
            <a:ext cx="8071744" cy="21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451422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쌍곡선이라 변곡점은 없다. k 는 앞 순위 쏠림 정도 : 10위 / 1위 가중치 = k=0 에서 0.10, k=60 에서 0.87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RRF : k 와 가중치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흔한 k=60 은 약한 목록과 동등하게 섞는다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pic>
        <p:nvPicPr>
          <p:cNvPr id="5" name="Picture 4" descr="c09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96" y="820000"/>
            <a:ext cx="7657808" cy="2150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0000" y="3060000"/>
          <a:ext cx="8850000" cy="516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000"/>
                <a:gridCol w="1800000"/>
                <a:gridCol w="1800000"/>
                <a:gridCol w="1800000"/>
                <a:gridCol w="18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BM25 단독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RRF k=60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RRF k=1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가중 RRF (BM25×5)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Hit@10 / MRR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0.938 / 0.838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0.900 / 0.639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0.940 / 0.796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0.950 / 0.751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Min-Max 정규화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점수를 0~1 로 펴서 가중 평균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820000"/>
            <a:ext cx="8850000" cy="471856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mm(s) = (s − min) / (max − min)       # 질문마다, 각 목록 안에서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fused = α · mm(BM25) + (1 − α) · mm(cos)    # 한쪽에만 있으면 다른 쪽 0</a:t>
            </a:r>
          </a:p>
        </p:txBody>
      </p:sp>
      <p:pic>
        <p:nvPicPr>
          <p:cNvPr id="6" name="Picture 5" descr="c1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581" y="1381856"/>
            <a:ext cx="4328837" cy="205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000" y="3521856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α = 0.7 : Hit@10 0.954 · MRR 0.844 — 이 실습에서 BM25 단독을 넘은 유일한 조합 (점수 크기 = 확신을 살린다)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Min-Max 의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극단값 하나가 스케일을 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pic>
        <p:nvPicPr>
          <p:cNvPr id="5" name="Picture 4" descr="c14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5" y="820000"/>
            <a:ext cx="8356250" cy="21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01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BM25 1위가 압도적인 질문 : 정규화 후 2위부터 0 근처로 눌려 벡터 점수가 조금만 높아도 뒤집힌다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α 는 데이터마다 다시 찾는다 — 평가셋을 나눠 고르고 확인해야 과적합을 피한다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질문 500개 · Hit@10 / MRR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4-2강실습/notebooks/30_퓨전_RRF_MinMax.ipynb</a:t>
            </a:r>
          </a:p>
        </p:txBody>
      </p:sp>
      <p:pic>
        <p:nvPicPr>
          <p:cNvPr id="5" name="Picture 4" descr="c16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00" y="820000"/>
            <a:ext cx="7016599" cy="26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560000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약한 목록을 섞을수록 손해 (RRF 3종 0.656) · 점수 분포가 믿을 만하면 Min-Max, 제멋대로면 RRF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유사도 곡선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맞힌 질문 vs 틀린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4-2강실습/notebooks/31_분포진단.ipynb</a:t>
            </a:r>
          </a:p>
        </p:txBody>
      </p:sp>
      <p:pic>
        <p:nvPicPr>
          <p:cNvPr id="5" name="Picture 4" descr="c0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44" y="820000"/>
            <a:ext cx="8377111" cy="23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210000"/>
            <a:ext cx="8850000" cy="312885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맞힌 질문은 1위가 튀어나온 곡선, 틀린 질문은 밋밋하게 내려오는 곡선 — 어디서 자를지 알 수 없는 '나쁜 분포'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무릎점 찾기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2차 차분 · 최대 간격 · Kneedle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4-2강실습/notebooks/31_분포진단.ipynb</a:t>
            </a:r>
          </a:p>
        </p:txBody>
      </p:sp>
      <p:pic>
        <p:nvPicPr>
          <p:cNvPr id="5" name="Picture 4" descr="c0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00" y="820000"/>
            <a:ext cx="7098000" cy="1950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0000" y="2860000"/>
          <a:ext cx="8850000" cy="103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0000"/>
                <a:gridCol w="2700000"/>
                <a:gridCol w="2700000"/>
              </a:tblGrid>
              <a:tr h="25843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평균 남긴 개수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정답이 남은 비율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최대 간격 (1차 차분)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2.4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0.33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2차 차분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3.1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0.35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258437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Kneedle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12.2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0.52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분리도 = 품질 신호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1위 점수 − 2~10위 평균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4-2강실습/notebooks/31_분포진단.ipynb</a:t>
            </a:r>
          </a:p>
        </p:txBody>
      </p:sp>
      <p:pic>
        <p:nvPicPr>
          <p:cNvPr id="5" name="Picture 4" descr="c0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0" y="820000"/>
            <a:ext cx="8372000" cy="23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21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분리도 상위 20% 만 답하면 벡터 1위 정확도 0.25 → 약 0.7. BM25 도 같은 경향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낮으면 '모르겠다' · BM25 로 넘기기 · 질의 재작성 — 정답셋 없이 운영 중에 잴 수 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유사도의 절대값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관련 없는 쌍도 0 이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4-2강실습/notebooks/31_분포진단.ipynb</a:t>
            </a:r>
          </a:p>
        </p:txBody>
      </p:sp>
      <p:pic>
        <p:nvPicPr>
          <p:cNvPr id="5" name="Picture 4" descr="c09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909" y="820000"/>
            <a:ext cx="5418181" cy="240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31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무작위 질문–청크 쌍 평균 0.15 (이방성) · 정답 쌍 평균 0.66, 두 분포가 겹친다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'유사도 0.6 이상만' 같은 고정 임계값은 모델마다 의미가 다르다 → 곡선 모양을 본다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필터 적합성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틀린 필터는 1위 유사도로 드러난다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4-2강실습/notebooks/31_분포진단.ipynb</a:t>
            </a:r>
          </a:p>
        </p:txBody>
      </p:sp>
      <p:pic>
        <p:nvPicPr>
          <p:cNvPr id="5" name="Picture 4" descr="c1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820000"/>
            <a:ext cx="8850000" cy="204340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2953406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뉴스 질문 200개 : 맞는 분야 필터 Hit@10 0.45 → 0.71 (후보가 수백 개로 준다)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틀린 분야 필터는 1위 유사도부터 급락 — 강의 슬라이드 25 '유사도가 낮으면 시맨틱 불일치'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코퍼스 분포 — 허브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" y="440000"/>
            <a:ext cx="5850000" cy="36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3D484A"/>
                </a:solidFill>
              </a:rPr>
              <a:t>특정 지문으로 결과가 쏠리는가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4-2강실습/notebooks/31_분포진단.ipynb</a:t>
            </a:r>
          </a:p>
        </p:txBody>
      </p:sp>
      <p:pic>
        <p:nvPicPr>
          <p:cNvPr id="5" name="Picture 4" descr="c13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" y="820000"/>
            <a:ext cx="8190000" cy="225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0000" y="3160000"/>
            <a:ext cx="8850000" cy="535770"/>
          </a:xfrm>
          <a:prstGeom prst="rect">
            <a:avLst/>
          </a:prstGeom>
          <a:solidFill>
            <a:srgbClr val="FFF3EE"/>
          </a:solidFill>
          <a:ln w="12700">
            <a:solidFill>
              <a:srgbClr val="FF70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0" rIns="100000" tIns="40000" bIns="4000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벡터 검색 : 지문 하나가 질문 21개의 top-10 에 등장 (BM25 는 최대 6) — 고차원 임베딩의 허브 현상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3D484A"/>
                </a:solidFill>
              </a:rPr>
              <a:t>벡터 1위의 한국경제 비율 65% vs 정답 55% — 출처 쏠림은 코퍼스 · 청킹 점검 신호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강의 슬라이드와 비교해 볼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4-2강실습/README.md</a:t>
            </a: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  · 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3"/>
              </a:rPr>
              <a:t>강의슬라이드_수정사항.md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00" y="820000"/>
          <a:ext cx="8850000" cy="29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5350000"/>
              </a:tblGrid>
              <a:tr h="330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강의 슬라이드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실습 결과</a:t>
                      </a:r>
                    </a:p>
                  </a:txBody>
                  <a:tcPr marT="25000" marB="25000" marL="60000" marR="60000" anchor="ctr">
                    <a:solidFill>
                      <a:srgbClr val="FF704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 · HNSW 는 metric-agnostic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인덱스는 빌드한 척도 하나에 묶인다 (21)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5 · 이웃 = 가장 가까운 M개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실제는 다양성 휴리스틱 : 0.99 vs 0.72 (11)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14 · 512차원을 8차원으로 압축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8차원 벡터가 아니라 8바이트 코드 (13)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16 · 같은 속도에서 HNSW 가 최고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군집이 뚜렷하면 IVFFlat 이 낫다 (22)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16 · 범주가 뚜렷하면 IVF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맞다. 범주가 없으면 IVF 는 무너진다 (22)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20 · RRF 의 k 로 변곡점 조절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변곡점은 없다. k 는 쏠림 정도 (30)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24 · 2차 미분으로 변곡점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잡음에 민감. 간격 · Kneedle · 분리도를 함께 (31)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4-1 · 부분집합 그래프는 불가능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D484A"/>
                          </a:solidFill>
                        </a:rPr>
                        <a:t>PG 부분 인덱스로 가능 : recall 1.0 (24)</a:t>
                      </a:r>
                    </a:p>
                  </a:txBody>
                  <a:tcPr marT="25000" marB="25000" marL="60000" marR="6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6000000" cy="0"/>
          </a:xfrm>
        </p:spPr>
        <p:txBody>
          <a:bodyPr/>
          <a:lstStyle/>
          <a:p>
            <a:r>
              <a:t>정리와 문제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75" y="4740000"/>
            <a:ext cx="8300000" cy="320000"/>
          </a:xfrm>
          <a:prstGeom prst="rect">
            <a:avLst/>
          </a:prstGeom>
          <a:noFill/>
        </p:spPr>
        <p:txBody>
          <a:bodyPr wrap="square" anchor="t" lIns="30000" rIns="30000" tIns="10000" bIns="1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>
                <a:solidFill>
                  <a:srgbClr val="80888A"/>
                </a:solidFill>
                <a:latin typeface="Roboto Mono"/>
                <a:ea typeface="Roboto Mono"/>
                <a:cs typeface="Roboto Mono"/>
              </a:rPr>
              <a:t>자료 ▸ </a:t>
            </a:r>
            <a:r>
              <a:rPr sz="950">
                <a:solidFill>
                  <a:srgbClr val="009CA6"/>
                </a:solidFill>
                <a:latin typeface="Roboto Mono"/>
                <a:ea typeface="Roboto Mono"/>
                <a:cs typeface="Roboto Mono"/>
                <a:hlinkClick r:id="rId2"/>
              </a:rPr>
              <a:t>4-2강실습/README.md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" y="820000"/>
            <a:ext cx="8850000" cy="487350"/>
          </a:xfrm>
          <a:prstGeom prst="rect">
            <a:avLst/>
          </a:prstGeom>
          <a:solidFill>
            <a:srgbClr val="F3F4F5"/>
          </a:solidFill>
        </p:spPr>
        <p:txBody>
          <a:bodyPr wrap="square" anchor="t" lIns="90000" rIns="90000" tIns="50000" bIns="5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down        # 컨테이너만 정지 (데이터 유지)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>
                <a:solidFill>
                  <a:srgbClr val="263238"/>
                </a:solidFill>
                <a:latin typeface="Roboto Mono"/>
                <a:ea typeface="Roboto Mono"/>
                <a:cs typeface="Roboto Mono"/>
              </a:rPr>
              <a:t>docker compose down -v     # 데이터까지 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" y="1397350"/>
            <a:ext cx="8850000" cy="1830195"/>
          </a:xfrm>
          <a:prstGeom prst="rect">
            <a:avLst/>
          </a:prstGeom>
          <a:noFill/>
        </p:spPr>
        <p:txBody>
          <a:bodyPr wrap="square" anchor="t" lIns="40000" rIns="40000" tIns="20000" bIns="20000">
            <a:spAutoFit/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1.recall 이 모든 설정에서 같다</a:t>
            </a:r>
            <a:br/>
            <a:r>
              <a:rPr sz="1350">
                <a:solidFill>
                  <a:srgbClr val="3D484A"/>
                </a:solidFill>
              </a:rPr>
              <a:t> -다른 노트북이 남긴 벡터 인덱스를 플래너가 쓰는 경우 → 첫 셀부터 다시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2. 30번 'KLUE 준비가 끝나야 한다'</a:t>
            </a:r>
            <a:br/>
            <a:r>
              <a:rPr sz="1350">
                <a:solidFill>
                  <a:srgbClr val="3D484A"/>
                </a:solidFill>
              </a:rPr>
              <a:t> -00번 진행 확인 셀 · prepare.log 확인</a:t>
            </a:r>
          </a:p>
          <a:p>
            <a:pPr marL="0" indent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sz="1350">
                <a:solidFill>
                  <a:srgbClr val="3D484A"/>
                </a:solidFill>
              </a:rPr>
              <a:t>3.과제</a:t>
            </a:r>
            <a:br/>
            <a:r>
              <a:rPr sz="1350">
                <a:solidFill>
                  <a:srgbClr val="3D484A"/>
                </a:solidFill>
              </a:rPr>
              <a:t> -21 · 22번을 KLUE 청크 임베딩(384차원)으로 반복해 보기</a:t>
            </a:r>
            <a:br/>
            <a:r>
              <a:rPr sz="1350">
                <a:solidFill>
                  <a:srgbClr val="3D484A"/>
                </a:solidFill>
              </a:rPr>
              <a:t> -31번의 분리도가 낮은 질문만 BM25 로 넘기는 라우터 → Hit@10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