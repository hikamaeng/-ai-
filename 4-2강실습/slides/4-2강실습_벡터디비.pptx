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gif"/><Relationship Id="rId3" Type="http://schemas.openxmlformats.org/officeDocument/2006/relationships/image" Target="../media/image1.gif"/><Relationship Id="rId4" Type="http://schemas.openxmlformats.org/officeDocument/2006/relationships/image" Target="../media/image3.png"/><Relationship Id="rId5" Type="http://schemas.openxmlformats.org/officeDocument/2006/relationships/image" Target="../media/image6.gi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gif"/><Relationship Id="rId3" Type="http://schemas.openxmlformats.org/officeDocument/2006/relationships/image" Target="../media/image3.png"/><Relationship Id="rId4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500" y="712750"/>
            <a:ext cx="8302200" cy="4344000"/>
          </a:xfrm>
          <a:prstGeom prst="roundRect">
            <a:avLst>
              <a:gd fmla="val 4806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67232" t="0"/>
          <a:stretch/>
        </p:blipFill>
        <p:spPr>
          <a:xfrm>
            <a:off x="8167116" y="15200"/>
            <a:ext cx="966500" cy="11609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>
            <p:ph type="title"/>
          </p:nvPr>
        </p:nvSpPr>
        <p:spPr>
          <a:xfrm>
            <a:off x="58500" y="-9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Font typeface="Orbit"/>
              <a:buNone/>
              <a:defRPr sz="3000">
                <a:latin typeface="Orbit"/>
                <a:ea typeface="Orbit"/>
                <a:cs typeface="Orbit"/>
                <a:sym typeface="Orbi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Orbit"/>
              <a:buNone/>
              <a:defRPr sz="3000">
                <a:latin typeface="Orbit"/>
                <a:ea typeface="Orbit"/>
                <a:cs typeface="Orbit"/>
                <a:sym typeface="Orbi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Orbit"/>
              <a:buNone/>
              <a:defRPr sz="3000">
                <a:latin typeface="Orbit"/>
                <a:ea typeface="Orbit"/>
                <a:cs typeface="Orbit"/>
                <a:sym typeface="Orbi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Orbit"/>
              <a:buNone/>
              <a:defRPr sz="3000">
                <a:latin typeface="Orbit"/>
                <a:ea typeface="Orbit"/>
                <a:cs typeface="Orbit"/>
                <a:sym typeface="Orbi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Orbit"/>
              <a:buNone/>
              <a:defRPr sz="3000">
                <a:latin typeface="Orbit"/>
                <a:ea typeface="Orbit"/>
                <a:cs typeface="Orbit"/>
                <a:sym typeface="Orbi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Orbit"/>
              <a:buNone/>
              <a:defRPr sz="3000">
                <a:latin typeface="Orbit"/>
                <a:ea typeface="Orbit"/>
                <a:cs typeface="Orbit"/>
                <a:sym typeface="Orbi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Orbit"/>
              <a:buNone/>
              <a:defRPr sz="3000">
                <a:latin typeface="Orbit"/>
                <a:ea typeface="Orbit"/>
                <a:cs typeface="Orbit"/>
                <a:sym typeface="Orbi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Orbit"/>
              <a:buNone/>
              <a:defRPr sz="3000">
                <a:latin typeface="Orbit"/>
                <a:ea typeface="Orbit"/>
                <a:cs typeface="Orbit"/>
                <a:sym typeface="Orbi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Orbit"/>
              <a:buNone/>
              <a:defRPr sz="3000">
                <a:latin typeface="Orbit"/>
                <a:ea typeface="Orbit"/>
                <a:cs typeface="Orbit"/>
                <a:sym typeface="Orbit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" type="body"/>
          </p:nvPr>
        </p:nvSpPr>
        <p:spPr>
          <a:xfrm>
            <a:off x="58500" y="712750"/>
            <a:ext cx="8302200" cy="434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Orbit"/>
              <a:buChar char="●"/>
              <a:defRPr sz="2300">
                <a:solidFill>
                  <a:schemeClr val="dk1"/>
                </a:solidFill>
                <a:latin typeface="Orbit"/>
                <a:ea typeface="Orbit"/>
                <a:cs typeface="Orbit"/>
                <a:sym typeface="Orbit"/>
              </a:defRPr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rbit"/>
              <a:buChar char="○"/>
              <a:defRPr sz="1900">
                <a:solidFill>
                  <a:schemeClr val="dk1"/>
                </a:solidFill>
                <a:latin typeface="Orbit"/>
                <a:ea typeface="Orbit"/>
                <a:cs typeface="Orbit"/>
                <a:sym typeface="Orbit"/>
              </a:defRPr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rbit"/>
              <a:buChar char="■"/>
              <a:defRPr sz="1900">
                <a:solidFill>
                  <a:schemeClr val="dk1"/>
                </a:solidFill>
                <a:latin typeface="Orbit"/>
                <a:ea typeface="Orbit"/>
                <a:cs typeface="Orbit"/>
                <a:sym typeface="Orbit"/>
              </a:defRPr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rbit"/>
              <a:buChar char="●"/>
              <a:defRPr sz="1900">
                <a:solidFill>
                  <a:schemeClr val="dk1"/>
                </a:solidFill>
                <a:latin typeface="Orbit"/>
                <a:ea typeface="Orbit"/>
                <a:cs typeface="Orbit"/>
                <a:sym typeface="Orbit"/>
              </a:defRPr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rbit"/>
              <a:buChar char="○"/>
              <a:defRPr sz="1900">
                <a:solidFill>
                  <a:schemeClr val="dk1"/>
                </a:solidFill>
                <a:latin typeface="Orbit"/>
                <a:ea typeface="Orbit"/>
                <a:cs typeface="Orbit"/>
                <a:sym typeface="Orbit"/>
              </a:defRPr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rbit"/>
              <a:buChar char="■"/>
              <a:defRPr sz="1900">
                <a:solidFill>
                  <a:schemeClr val="dk1"/>
                </a:solidFill>
                <a:latin typeface="Orbit"/>
                <a:ea typeface="Orbit"/>
                <a:cs typeface="Orbit"/>
                <a:sym typeface="Orbit"/>
              </a:defRPr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rbit"/>
              <a:buChar char="●"/>
              <a:defRPr sz="1900">
                <a:solidFill>
                  <a:schemeClr val="dk1"/>
                </a:solidFill>
                <a:latin typeface="Orbit"/>
                <a:ea typeface="Orbit"/>
                <a:cs typeface="Orbit"/>
                <a:sym typeface="Orbit"/>
              </a:defRPr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rbit"/>
              <a:buChar char="○"/>
              <a:defRPr sz="1900">
                <a:solidFill>
                  <a:schemeClr val="dk1"/>
                </a:solidFill>
                <a:latin typeface="Orbit"/>
                <a:ea typeface="Orbit"/>
                <a:cs typeface="Orbit"/>
                <a:sym typeface="Orbit"/>
              </a:defRPr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Orbit"/>
              <a:buChar char="■"/>
              <a:defRPr sz="1900">
                <a:solidFill>
                  <a:schemeClr val="dk1"/>
                </a:solidFill>
                <a:latin typeface="Orbit"/>
                <a:ea typeface="Orbit"/>
                <a:cs typeface="Orbit"/>
                <a:sym typeface="Orbi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17" name="Google Shape;17;p3"/>
          <p:cNvSpPr txBox="1"/>
          <p:nvPr>
            <p:ph idx="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pic>
        <p:nvPicPr>
          <p:cNvPr descr="a border of fire on a white background .(Tenor 제공)" id="18" name="Google Shape;18;p3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red youtube logo with a white play button on a white background(Tenor 제공)" id="19" name="Google Shape;19;p3"/>
          <p:cNvPicPr preferRelativeResize="0"/>
          <p:nvPr/>
        </p:nvPicPr>
        <p:blipFill rotWithShape="1">
          <a:blip r:embed="rId3">
            <a:alphaModFix/>
          </a:blip>
          <a:srcRect b="0" l="39705" r="0" t="53302"/>
          <a:stretch/>
        </p:blipFill>
        <p:spPr>
          <a:xfrm>
            <a:off x="8789575" y="524542"/>
            <a:ext cx="300000" cy="211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3" title="뉴런데브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58327" y="116571"/>
            <a:ext cx="1357125" cy="61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neuron_robot_fast.gif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70777" y="0"/>
            <a:ext cx="587548" cy="73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섹션 헤더 1">
  <p:cSld name="SECTION_HEADER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24" name="Google Shape;24;p4"/>
          <p:cNvSpPr txBox="1"/>
          <p:nvPr>
            <p:ph idx="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25" name="Google Shape;25;p4"/>
          <p:cNvSpPr txBox="1"/>
          <p:nvPr>
            <p:ph type="title"/>
          </p:nvPr>
        </p:nvSpPr>
        <p:spPr>
          <a:xfrm>
            <a:off x="0" y="-68855"/>
            <a:ext cx="7227000" cy="52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 sz="2467">
                <a:solidFill>
                  <a:srgbClr val="FF7043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26" name="Google Shape;26;p4"/>
          <p:cNvCxnSpPr/>
          <p:nvPr/>
        </p:nvCxnSpPr>
        <p:spPr>
          <a:xfrm>
            <a:off x="-20650" y="420022"/>
            <a:ext cx="7326300" cy="0"/>
          </a:xfrm>
          <a:prstGeom prst="straightConnector1">
            <a:avLst/>
          </a:prstGeom>
          <a:noFill/>
          <a:ln cap="flat" cmpd="sng" w="9525">
            <a:solidFill>
              <a:srgbClr val="3D484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a red youtube logo with a white play button on a white background(Tenor 제공)" id="27" name="Google Shape;27;p4"/>
          <p:cNvPicPr preferRelativeResize="0"/>
          <p:nvPr/>
        </p:nvPicPr>
        <p:blipFill rotWithShape="1">
          <a:blip r:embed="rId2">
            <a:alphaModFix/>
          </a:blip>
          <a:srcRect b="0" l="39705" r="0" t="53302"/>
          <a:stretch/>
        </p:blipFill>
        <p:spPr>
          <a:xfrm>
            <a:off x="8789575" y="524542"/>
            <a:ext cx="300000" cy="211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4" title="뉴런데브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8327" y="116571"/>
            <a:ext cx="1357125" cy="61052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4"/>
          <p:cNvSpPr txBox="1"/>
          <p:nvPr>
            <p:ph idx="1" type="body"/>
          </p:nvPr>
        </p:nvSpPr>
        <p:spPr>
          <a:xfrm>
            <a:off x="65375" y="375350"/>
            <a:ext cx="9230100" cy="476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8616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48"/>
              <a:buFont typeface="Roboto Mono Light"/>
              <a:buChar char="●"/>
              <a:defRPr sz="2048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 Mono Light"/>
              <a:buChar char="○"/>
              <a:defRPr sz="19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 Mono Light"/>
              <a:buChar char="■"/>
              <a:defRPr sz="19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 Mono Light"/>
              <a:buChar char="●"/>
              <a:defRPr sz="19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 Mono Light"/>
              <a:buChar char="○"/>
              <a:defRPr sz="19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 Mono Light"/>
              <a:buChar char="■"/>
              <a:defRPr sz="19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 Mono Light"/>
              <a:buChar char="●"/>
              <a:defRPr sz="19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 Mono Light"/>
              <a:buChar char="○"/>
              <a:defRPr sz="19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 Mono Light"/>
              <a:buChar char="■"/>
              <a:defRPr sz="19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30" name="Google Shape;30;p4"/>
          <p:cNvSpPr/>
          <p:nvPr/>
        </p:nvSpPr>
        <p:spPr>
          <a:xfrm>
            <a:off x="7671050" y="3669325"/>
            <a:ext cx="1472700" cy="1474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" name="Google Shape;31;p4" title="neuron_robot_fast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70777" y="0"/>
            <a:ext cx="587548" cy="73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392704" y="0"/>
            <a:ext cx="3759041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1" name="Google Shape;41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9" name="Google Shape;49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0" name="Google Shape;50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4" name="Google Shape;54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7" name="Google Shape;57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 1">
  <p:cSld name="TITLE_1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3" name="Google Shape;63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64" name="Google Shape;64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 2">
  <p:cSld name="TITLE_2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7" name="Google Shape;67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 3">
  <p:cSld name="TITLE_3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71" name="Google Shape;71;p1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72" name="Google Shape;7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 4">
  <p:cSld name="TITLE_4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75" name="Google Shape;75;p1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76" name="Google Shape;7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 5">
  <p:cSld name="TITLE_5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79" name="Google Shape;79;p1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80" name="Google Shape;8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 6">
  <p:cSld name="TITLE_6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83" name="Google Shape;83;p1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84" name="Google Shape;8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 7">
  <p:cSld name="TITLE_7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87" name="Google Shape;87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88" name="Google Shape;8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 8">
  <p:cSld name="TITLE_8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1" name="Google Shape;91;p2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2" name="Google Shape;92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ikaMaeng/-ai-/blob/main/4-2%EA%B0%95%EC%8B%A4%EC%8A%B5/READM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ikaMaeng/-ai-/blob/main/4-2%EA%B0%95%EC%8B%A4%EC%8A%B5/README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ikaMaeng/-ai-/blob/main/4-2%EA%B0%95%EC%8B%A4%EC%8A%B5/README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ikaMaeng/-ai-/blob/main/4%EA%B0%95%EC%8B%A4%EC%8A%B5/docker-compose.yml" TargetMode="External"/><Relationship Id="rId3" Type="http://schemas.openxmlformats.org/officeDocument/2006/relationships/hyperlink" Target="https://github.com/hikaMaeng/-ai-/blob/main/4%EA%B0%95%EC%8B%A4%EC%8A%B5/jupyter/Dockerfil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ikaMaeng/-ai-/blob/main/4-2%EA%B0%95%EC%8B%A4%EC%8A%B5/notebooks/00_%ED%99%98%EA%B2%BD%EC%A0%90%EA%B2%80.ipynb" TargetMode="External"/><Relationship Id="rId3" Type="http://schemas.openxmlformats.org/officeDocument/2006/relationships/hyperlink" Target="https://github.com/hikaMaeng/-ai-/blob/main/4-2%EA%B0%95%EC%8B%A4%EC%8A%B5/notebooks/prepare_klue.py" TargetMode="External"/><Relationship Id="rId4" Type="http://schemas.openxmlformats.org/officeDocument/2006/relationships/hyperlink" Target="https://github.com/hikaMaeng/-ai-/blob/main/4-2%EA%B0%95%EC%8B%A4%EC%8A%B5/notebooks/labutil.py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hyperlink" Target="https://github.com/hikaMaeng/-ai-/blob/main/4-2%EA%B0%95%EC%8B%A4%EC%8A%B5/notebooks/10_NSW_%EA%B7%B8%EB%A6%AC%EB%94%94%ED%83%90%EC%83%89.ipynb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ikaMaeng/-ai-/blob/main/4-2%EA%B0%95%EC%8B%A4%EC%8A%B5/notebooks/10_NSW_%EA%B7%B8%EB%A6%AC%EB%94%94%ED%83%90%EC%83%89.ipynb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hyperlink" Target="https://github.com/hikaMaeng/-ai-/blob/main/4-2%EA%B0%95%EC%8B%A4%EC%8A%B5/notebooks/11_HNSW_%EA%B3%84%EC%B8%B5.ipynb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hyperlink" Target="https://github.com/hikaMaeng/-ai-/blob/main/4-2%EA%B0%95%EC%8B%A4%EC%8A%B5/notebooks/11_HNSW_%EA%B3%84%EC%B8%B5.ipynb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hyperlink" Target="https://github.com/hikaMaeng/-ai-/blob/main/4-2%EA%B0%95%EC%8B%A4%EC%8A%B5/notebooks/12_IVF_kmeans.ipynb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hyperlink" Target="https://github.com/hikaMaeng/-ai-/blob/main/4-2%EA%B0%95%EC%8B%A4%EC%8A%B5/notebooks/12_IVF_kmeans.ipyn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hyperlink" Target="https://github.com/hikaMaeng/-ai-/blob/main/4-2%EA%B0%95%EC%8B%A4%EC%8A%B5/notebooks/13_PQ_ADC.ipynb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hyperlink" Target="https://github.com/hikaMaeng/-ai-/blob/main/4-2%EA%B0%95%EC%8B%A4%EC%8A%B5/notebooks/13_PQ_ADC.ipynb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hyperlink" Target="https://github.com/hikaMaeng/-ai-/blob/main/4-2%EA%B0%95%EC%8B%A4%EC%8A%B5/notebooks/20_pgvector_%EB%8D%B0%EC%9D%B4%ED%84%B0%EC%99%80%EC%A0%95%EB%8B%B5%EC%A7%80.ipyn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Relationship Id="rId3" Type="http://schemas.openxmlformats.org/officeDocument/2006/relationships/hyperlink" Target="https://github.com/hikaMaeng/-ai-/blob/main/4-2%EA%B0%95%EC%8B%A4%EC%8A%B5/notebooks/21_pgvector_HNSW.ipyn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hyperlink" Target="https://github.com/hikaMaeng/-ai-/blob/main/4-2%EA%B0%95%EC%8B%A4%EC%8A%B5/notebooks/21_pgvector_HNSW.ipynb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hyperlink" Target="https://github.com/hikaMaeng/-ai-/blob/main/4-2%EA%B0%95%EC%8B%A4%EC%8A%B5/notebooks/22_pgvector_IVFFlat.ipynb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3" Type="http://schemas.openxmlformats.org/officeDocument/2006/relationships/hyperlink" Target="https://github.com/hikaMaeng/-ai-/blob/main/4-2%EA%B0%95%EC%8B%A4%EC%8A%B5/notebooks/22_pgvector_IVFFlat.ipynb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3" Type="http://schemas.openxmlformats.org/officeDocument/2006/relationships/hyperlink" Target="https://github.com/hikaMaeng/-ai-/blob/main/4-2%EA%B0%95%EC%8B%A4%EC%8A%B5/notebooks/23_pgvector_%EC%96%91%EC%9E%90%ED%99%94.ipynb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hyperlink" Target="https://github.com/hikaMaeng/-ai-/blob/main/4-2%EA%B0%95%EC%8B%A4%EC%8A%B5/notebooks/24_pgvector_%ED%95%84%ED%84%B0.ipynb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hyperlink" Target="https://github.com/hikaMaeng/-ai-/blob/main/4-2%EA%B0%95%EC%8B%A4%EC%8A%B5/notebooks/24_pgvector_%ED%95%84%ED%84%B0.ipynb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Relationship Id="rId3" Type="http://schemas.openxmlformats.org/officeDocument/2006/relationships/hyperlink" Target="https://github.com/hikaMaeng/-ai-/blob/main/4-2%EA%B0%95%EC%8B%A4%EC%8A%B5/notebooks/30_%ED%93%A8%EC%A0%84_RRF_MinMax.ipynb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Relationship Id="rId3" Type="http://schemas.openxmlformats.org/officeDocument/2006/relationships/hyperlink" Target="https://github.com/hikaMaeng/-ai-/blob/main/4-2%EA%B0%95%EC%8B%A4%EC%8A%B5/notebooks/30_%ED%93%A8%EC%A0%84_RRF_MinMax.ipynb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hyperlink" Target="https://github.com/hikaMaeng/-ai-/blob/main/4-2%EA%B0%95%EC%8B%A4%EC%8A%B5/notebooks/30_%ED%93%A8%EC%A0%84_RRF_MinMax.ipynb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Relationship Id="rId3" Type="http://schemas.openxmlformats.org/officeDocument/2006/relationships/hyperlink" Target="https://github.com/hikaMaeng/-ai-/blob/main/4-2%EA%B0%95%EC%8B%A4%EC%8A%B5/notebooks/31_%EB%B6%84%ED%8F%AC%EC%A7%84%EB%8B%A8.ipynb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Relationship Id="rId3" Type="http://schemas.openxmlformats.org/officeDocument/2006/relationships/hyperlink" Target="https://github.com/hikaMaeng/-ai-/blob/main/4-2%EA%B0%95%EC%8B%A4%EC%8A%B5/notebooks/31_%EB%B6%84%ED%8F%AC%EC%A7%84%EB%8B%A8.ipynb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Relationship Id="rId3" Type="http://schemas.openxmlformats.org/officeDocument/2006/relationships/hyperlink" Target="https://github.com/hikaMaeng/-ai-/blob/main/4-2%EA%B0%95%EC%8B%A4%EC%8A%B5/notebooks/31_%EB%B6%84%ED%8F%AC%EC%A7%84%EB%8B%A8.ipynb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png"/><Relationship Id="rId3" Type="http://schemas.openxmlformats.org/officeDocument/2006/relationships/hyperlink" Target="https://github.com/hikaMaeng/-ai-/blob/main/4-2%EA%B0%95%EC%8B%A4%EC%8A%B5/notebooks/31_%EB%B6%84%ED%8F%AC%EC%A7%84%EB%8B%A8.ipynb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ikaMaeng/-ai-/blob/main/4-2%EA%B0%95%EC%8B%A4%EC%8A%B5/README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ikaMaeng/-ai-/blob/main/4-2%EA%B0%95%EC%8B%A4%EC%8A%B5/README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5325" y="838600"/>
            <a:ext cx="3730800" cy="87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500">
                <a:solidFill>
                  <a:srgbClr val="000000"/>
                </a:solidFill>
                <a:latin typeface="Gugi"/>
                <a:ea typeface="Gugi"/>
                <a:cs typeface="Gugi"/>
              </a:rPr>
              <a:t>뉴런데브클래스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625" y="1630325"/>
            <a:ext cx="9076800" cy="1985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700">
                <a:solidFill>
                  <a:srgbClr val="3D484A"/>
                </a:solidFill>
                <a:latin typeface="Gugi"/>
                <a:ea typeface="Gugi"/>
                <a:cs typeface="Gugi"/>
              </a:rPr>
              <a:t>현대 AI의 원리와 구조</a:t>
            </a:r>
            <a:br/>
            <a:r>
              <a:rPr sz="5000">
                <a:solidFill>
                  <a:srgbClr val="FF6B4A"/>
                </a:solidFill>
                <a:latin typeface="Gugi"/>
                <a:ea typeface="Gugi"/>
                <a:cs typeface="Gugi"/>
              </a:rPr>
              <a:t>#4-2 벡터디비 실습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2175" y="343875"/>
            <a:ext cx="6591900" cy="2833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67" b="1">
                <a:solidFill>
                  <a:srgbClr val="FF7043"/>
                </a:solidFill>
                <a:latin typeface="Roboto Mono"/>
                <a:ea typeface="Roboto Mono"/>
                <a:cs typeface="Roboto Mono"/>
              </a:rPr>
              <a:t>목차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78" b="1">
                <a:solidFill>
                  <a:srgbClr val="3D484A"/>
                </a:solidFill>
                <a:latin typeface="Roboto Mono"/>
                <a:ea typeface="Roboto Mono"/>
                <a:cs typeface="Roboto Mono"/>
              </a:rPr>
              <a:t>1 </a:t>
            </a:r>
            <a:r>
              <a:rPr sz="2578">
                <a:solidFill>
                  <a:srgbClr val="3D484A"/>
                </a:solidFill>
                <a:latin typeface="Roboto Mono"/>
                <a:ea typeface="Roboto Mono"/>
                <a:cs typeface="Roboto Mono"/>
              </a:rPr>
              <a:t>실습 환경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78" b="1">
                <a:solidFill>
                  <a:srgbClr val="3D484A"/>
                </a:solidFill>
                <a:latin typeface="Roboto Mono"/>
                <a:ea typeface="Roboto Mono"/>
                <a:cs typeface="Roboto Mono"/>
              </a:rPr>
              <a:t>2 </a:t>
            </a:r>
            <a:r>
              <a:rPr sz="2578">
                <a:solidFill>
                  <a:srgbClr val="3D484A"/>
                </a:solidFill>
                <a:latin typeface="Roboto Mono"/>
                <a:ea typeface="Roboto Mono"/>
                <a:cs typeface="Roboto Mono"/>
              </a:rPr>
              <a:t>인덱스 원리 — numpy 로 직접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78" b="1">
                <a:solidFill>
                  <a:srgbClr val="3D484A"/>
                </a:solidFill>
                <a:latin typeface="Roboto Mono"/>
                <a:ea typeface="Roboto Mono"/>
                <a:cs typeface="Roboto Mono"/>
              </a:rPr>
              <a:t>3 </a:t>
            </a:r>
            <a:r>
              <a:rPr sz="2578">
                <a:solidFill>
                  <a:srgbClr val="3D484A"/>
                </a:solidFill>
                <a:latin typeface="Roboto Mono"/>
                <a:ea typeface="Roboto Mono"/>
                <a:cs typeface="Roboto Mono"/>
              </a:rPr>
              <a:t>pgvector 인덱스 측정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78" b="1">
                <a:solidFill>
                  <a:srgbClr val="3D484A"/>
                </a:solidFill>
                <a:latin typeface="Roboto Mono"/>
                <a:ea typeface="Roboto Mono"/>
                <a:cs typeface="Roboto Mono"/>
              </a:rPr>
              <a:t>4 </a:t>
            </a:r>
            <a:r>
              <a:rPr sz="2578">
                <a:solidFill>
                  <a:srgbClr val="3D484A"/>
                </a:solidFill>
                <a:latin typeface="Roboto Mono"/>
                <a:ea typeface="Roboto Mono"/>
                <a:cs typeface="Roboto Mono"/>
              </a:rPr>
              <a:t>검색 품질 — 퓨전 · 분포 진단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78" b="1">
                <a:solidFill>
                  <a:srgbClr val="3D484A"/>
                </a:solidFill>
                <a:latin typeface="Roboto Mono"/>
                <a:ea typeface="Roboto Mono"/>
                <a:cs typeface="Roboto Mono"/>
              </a:rPr>
              <a:t>5 </a:t>
            </a:r>
            <a:r>
              <a:rPr sz="2578">
                <a:solidFill>
                  <a:srgbClr val="3D484A"/>
                </a:solidFill>
                <a:latin typeface="Roboto Mono"/>
                <a:ea typeface="Roboto Mono"/>
                <a:cs typeface="Roboto Mono"/>
              </a:rPr>
              <a:t>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실습 개요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48"/>
              <a:t>1.강의의 인덱스 · 퓨전 · 분포 이론을 직접 만들고 숫자로 확인</a:t>
            </a:r>
            <a:br/>
            <a:r>
              <a:rPr sz="1648"/>
              <a:t> -1부 numpy 로 NSW · HNSW · IVF · PQ 를 처음부터 구현</a:t>
            </a:r>
            <a:br/>
            <a:r>
              <a:rPr sz="1648"/>
              <a:t> -2부 pgvector 로 같은 현상을 벡터 10만 개에서 측정</a:t>
            </a:r>
            <a:br/>
            <a:r>
              <a:rPr sz="1648"/>
              <a:t> -3부 KLUE-MRC 로 RRF · Min-Max · 분포 진단</a:t>
            </a: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48"/>
              <a:t>2.모든 실습은 Jupyter 노트북</a:t>
            </a:r>
            <a:br/>
            <a:r>
              <a:rPr sz="1648"/>
              <a:t> -노트북 12개, 실행하면 그래프 40여 개가 그려진다</a:t>
            </a:r>
            <a:br/>
            <a:r>
              <a:rPr sz="1648"/>
              <a:t> -슬라이드의 주장을 그래프로 검증 — 맞는 것과 다른 것을 구분</a:t>
            </a: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48"/>
              <a:t>3. 4-1 과 같은 도커 컴포즈 하나</a:t>
            </a:r>
            <a:br/>
            <a:r>
              <a:rPr sz="1648"/>
              <a:t> -db · pgAdmin · Jupyter 가 함께 뜬다</a:t>
            </a:r>
            <a:br/>
            <a:r>
              <a:rPr sz="1648"/>
              <a:t> -4-1 의 KLUE 데이터 · BM25 구현을 그대로 재사용</a:t>
            </a: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48"/>
              <a:t>4.두 가지 '정확도'를 구분</a:t>
            </a:r>
            <a:br/>
            <a:r>
              <a:rPr sz="1648"/>
              <a:t> -2부 ANN recall@10: 정확한 k-NN 대비 몇 개를 찾았나 (인덱스의 근사 품질)</a:t>
            </a:r>
            <a:br/>
            <a:r>
              <a:rPr sz="1648"/>
              <a:t> -3부 Hit@10 · MRR: 정답 지문을 찾았나 (검색 자체의 품질)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2"/>
              </a:rPr>
              <a:t>4-2강실습/README.md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90분 타임테이블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0000" y="820000"/>
          <a:ext cx="87000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7000"/>
                <a:gridCol w="1900000"/>
                <a:gridCol w="3300000"/>
                <a:gridCol w="2543000"/>
              </a:tblGrid>
              <a:tr h="30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노트북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계산 시간 (12코어 실측)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00–10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① 환경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compose up → Jupyter → 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Jupyter 이미지 빌드 1~2분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10–40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② 1부 원리 (numpy)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10 NSW · 11 HNSW · 12 IVF · 13 PQ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7초 · 43초 · 12초 · 37초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40–70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③ 2부 pgvector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20 · 21 · 22 · 23 · 24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8초 · 70초 · 41초 · 22초 · 29초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70–90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④ 3부 품질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30 퓨전 · 31 분포 진단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20초 · 11초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50000" y="2750000"/>
            <a:ext cx="8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00번이 시작한 KLUE 준비(청크 27,943개 임베딩)는 12코어에서 약 15분 — 1부 · 2부 동안 뒤에서 끝난다.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1400"/>
              <a:t>4코어 노트북은 2~3배 걸리므로 00번을 가장 먼저 실행해 둔다. 30번 전에 '✔ KLUE 준비 완료' 확인.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2"/>
              </a:rPr>
              <a:t>4-2강실습/README.md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저장소 구조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0000" y="700000"/>
          <a:ext cx="8700000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5700000"/>
              </a:tblGrid>
              <a:tr h="33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경로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4강실습/docker-compose.yml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db · pgadmin · jupyter · loader (4-1 과 같은 파일에 jupyter 추가)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4강실습/jupyter/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JupyterLab 이미지: numpy · matplotlib · psycopg · pgvector · fastembed · 나눔 글꼴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4-2강실습/notebooks/labutil.py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DB 연결 · recall 측정(pg_bench) · 정확한 k-NN · 그래프 한글 설정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4-2강실습/notebooks/prepare_klue.py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3부 데이터: 4-1 의 load.py · sql/20~22 재사용 + 청크 임베딩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notebooks/00 ~ 13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환경 점검 · 1부 원리 (NSW · HNSW · IVF · PQ)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notebooks/20 ~ 24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2부 pgvector (데이터 · HNSW · IVFFlat · 양자화 · 필터)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notebooks/30 ~ 31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484A"/>
                          </a:solidFill>
                        </a:rPr>
                        <a:t>3부 품질 (퓨전 · 분포 진단)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50000" y="4250000"/>
            <a:ext cx="8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git pull  →  cd -ai-/4강실습  →  docker compose up -d --build  →  http://localhost:8888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2"/>
              </a:rPr>
              <a:t>4-2강실습/README.md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76050" y="1767925"/>
            <a:ext cx="6591900" cy="572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>
                <a:latin typeface="Gugi"/>
                <a:ea typeface="Gugi"/>
                <a:cs typeface="Gugi"/>
              </a:rPr>
              <a:t>실습 환경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컴포즈에 Jupyter 추가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48"/>
              <a:t>1.서비스 4개</a:t>
            </a:r>
            <a:br/>
            <a:r>
              <a:rPr sz="1648"/>
              <a:t> -db : pgvector(PG17) + 한국어 형태소 분석기, 5432</a:t>
            </a:r>
            <a:br/>
            <a:r>
              <a:rPr sz="1648"/>
              <a:t> -pgadmin : 5050</a:t>
            </a:r>
            <a:br/>
            <a:r>
              <a:rPr sz="1648"/>
              <a:t> -jupyter : JupyterLab, 8888 (저장소 루트를 /work 로)</a:t>
            </a:r>
            <a:br/>
            <a:r>
              <a:rPr sz="1648"/>
              <a:t> -loader : 4-1 데이터 적재 도구</a:t>
            </a: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48"/>
              <a:t>2.실행</a:t>
            </a:r>
            <a:br/>
            <a:r>
              <a:rPr sz="1400">
                <a:solidFill>
                  <a:srgbClr val="009CA6"/>
                </a:solidFill>
                <a:latin typeface="Roboto Mono"/>
                <a:ea typeface="Roboto Mono"/>
                <a:cs typeface="Roboto Mono"/>
              </a:rPr>
              <a:t>   cd -ai-/4강실습</a:t>
            </a:r>
            <a:br/>
            <a:r>
              <a:rPr sz="1400">
                <a:solidFill>
                  <a:srgbClr val="009CA6"/>
                </a:solidFill>
                <a:latin typeface="Roboto Mono"/>
                <a:ea typeface="Roboto Mono"/>
                <a:cs typeface="Roboto Mono"/>
              </a:rPr>
              <a:t>   docker compose up -d --build</a:t>
            </a:r>
            <a:br/>
            <a:r>
              <a:rPr sz="1648"/>
              <a:t> -4-1 을 했다면 Jupyter 이미지만 새로 빌드, db 데이터는 그대로</a:t>
            </a: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48"/>
              <a:t>3.db 에 인덱스 빌드용 설정 추가</a:t>
            </a:r>
            <a:br/>
            <a:r>
              <a:rPr sz="1648"/>
              <a:t> -maintenance_work_mem=1GB : HNSW 그래프를 메모리 안에서 빌드</a:t>
            </a:r>
            <a:br/>
            <a:r>
              <a:rPr sz="1648"/>
              <a:t> -max_parallel_maintenance_workers=4 · shm_size 1g : 병렬 빌드는 /dev/shm 사용</a:t>
            </a: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48"/>
              <a:t>4.Jupyter 는 로그인 없음</a:t>
            </a:r>
            <a:br/>
            <a:r>
              <a:rPr sz="1648"/>
              <a:t> -http://localhost:8888 → 4-2강실습/notebooks 가 바로 열림</a:t>
            </a:r>
            <a:br/>
            <a:r>
              <a:rPr sz="1648"/>
              <a:t> -로컬 실습 전용 설정 — 외부에 노출하지 말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2"/>
              </a:rPr>
              <a:t>4강실습/docker-compose.yml</a:t>
            </a: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  · 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Dockerfile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00 환경 점검과 KLUE 준비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48"/>
              <a:t>1.버전 확인</a:t>
            </a:r>
            <a:br/>
            <a:r>
              <a:rPr sz="1648"/>
              <a:t> -PostgreSQL 17 · pgvector 0.8.6 · textsearch_ko 1.0</a:t>
            </a:r>
            <a:br/>
            <a:r>
              <a:rPr sz="1648"/>
              <a:t> -pgvector 0.8 이상이어야 iterative scan(24번) 가능</a:t>
            </a: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48"/>
              <a:t>2.KLUE 준비를 백그라운드로 (prepare_klue.py)</a:t>
            </a:r>
            <a:br/>
            <a:r>
              <a:rPr sz="1648"/>
              <a:t> -텍스트 → BM25 역색인 → 지문 임베딩 → 청크 임베딩</a:t>
            </a:r>
            <a:br/>
            <a:r>
              <a:rPr sz="1648"/>
              <a:t> -4-1 을 마쳤다면 앞의 세 단계는 건너뛰고 청크만 (12코어 약 15분)</a:t>
            </a: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48"/>
              <a:t>3.청크: 문장 경계로 250자, 제목을 앞에 붙여 임베딩</a:t>
            </a:r>
            <a:br/>
            <a:r>
              <a:rPr sz="1648"/>
              <a:t> -지문 5,309개 → 청크 27,943개 (평균 5.3개)</a:t>
            </a:r>
            <a:br/>
            <a:r>
              <a:rPr sz="1648"/>
              <a:t> -MiniLM 입력 한계 128토큰 → 지문 통째로는 앞부분만 담긴다(4-1 결론)</a:t>
            </a: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648"/>
              <a:t>4.labutil.connect() 의 prepare_threshold = None</a:t>
            </a:r>
            <a:br/>
            <a:r>
              <a:rPr sz="1648"/>
              <a:t> -psycopg 는 같은 SQL 을 여러 번 실행하면 서버에 prepare 해 두고 계획을 재사용</a:t>
            </a:r>
            <a:br/>
            <a:r>
              <a:rPr sz="1648"/>
              <a:t> -SET hnsw.ef_search 를 바꿔도 옛 계획이 쓰여 측정이 틀어진다 → 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2"/>
              </a:rPr>
              <a:t>4-2강실습/notebooks/00_환경점검.ipynb</a:t>
            </a: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  · 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prepare_klue.py</a:t>
            </a: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  · 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4"/>
              </a:rPr>
              <a:t>labutil.py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76050" y="1767925"/>
            <a:ext cx="6591900" cy="572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>
                <a:latin typeface="Gugi"/>
                <a:ea typeface="Gugi"/>
                <a:cs typeface="Gugi"/>
              </a:rPr>
              <a:t>인덱스 원리 — numpy 로 직접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NSW — 친구 맺기와 그리디 탐색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40000" y="760000"/>
            <a:ext cx="3414000" cy="388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1.증분 구축</a:t>
            </a:r>
            <a:br/>
            <a:r>
              <a:rPr sz="1250"/>
              <a:t> -이미 있는 점 중 가장 가까운 M개와 양방향, 넘치면 가장 먼 친구를 끊는다</a:t>
            </a:r>
            <a:br/>
            <a:r>
              <a:rPr sz="1250"/>
              <a:t> -먼저 들어온 점일수록 긴 간선(지름길): 평균 0.57 vs 0.38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1250"/>
              <a:t>2.그리디만으로는 최근접을 35% 만 맞힌다 (M=4, 점 300개)</a:t>
            </a:r>
            <a:br/>
            <a:r>
              <a:rPr sz="1250"/>
              <a:t> -오른쪽: 친구들이 모두 멀어 멈췄는데 그 너머에 정답 = 지역 최적</a:t>
            </a:r>
          </a:p>
        </p:txBody>
      </p:sp>
      <p:pic>
        <p:nvPicPr>
          <p:cNvPr id="4" name="Picture 3" descr="c0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0" y="760000"/>
            <a:ext cx="5400000" cy="3217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4-2강실습/notebooks/10_NSW_그리디탐색.ipynb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NSW — 후보 폭 ef 와 이웃 수 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0000" y="820000"/>
          <a:ext cx="8700000" cy="1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2200000"/>
                <a:gridCol w="1860000"/>
                <a:gridCol w="1860000"/>
                <a:gridCol w="1880000"/>
              </a:tblGrid>
              <a:tr h="30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진입점에서 도달 가능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ef=1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ef=4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ef=16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49%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0.06 / 9회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0.07 / 11회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0.43 / 39회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99%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0.35 / 20회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0.78 / 43회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D484A"/>
                          </a:solidFill>
                        </a:rPr>
                        <a:t>0.99 / 64회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100%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0.93 / 46회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1.00 / 53회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1.00 / 66회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50000" y="2200000"/>
            <a:ext cx="8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칸 = recall@1 / 질의당 거리 계산 횟수 (전수 비교는 300회). ef 를 키우면 recall 과 비용이 함께 오른다.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1400"/>
              <a:t>M=2 는 군집끼리 이어지지 않아 섬이 생긴다 — 도달할 수 없는 절반은 ef 를 키워도 못 찾는다.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1400"/>
              <a:t>실제 HNSW 의 가지치기는 '가장 먼 친구'가 아니라 다양성 휴리스틱 → 다음 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2"/>
              </a:rPr>
              <a:t>4-2강실습/notebooks/10_NSW_그리디탐색.ipynb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HNSW — 층을 내려오며 좁힌다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060718"/>
            <a:ext cx="8900000" cy="1599282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1.층 배정 = floor(−ln U × mL), mL = 1/ln M</a:t>
            </a:r>
            <a:br/>
            <a:r>
              <a:rPr sz="1250"/>
              <a:t> -100만 개, M=16: 1층 62,397 (기대 62,500) · 2층 3,937 · 3층 260 · 4층 15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2.위층에서 그리디로 멀리 건너가고, 0층에서 ef 후보로 정밀하게</a:t>
            </a:r>
            <a:br/>
            <a:r>
              <a:rPr sz="1250"/>
              <a:t> -주황 = 방문한 노드. 각 층은 위층이 찾아 준 출발점에서 시작</a:t>
            </a:r>
          </a:p>
        </p:txBody>
      </p:sp>
      <p:pic>
        <p:nvPicPr>
          <p:cNvPr id="4" name="Picture 3" descr="c0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00" y="760000"/>
            <a:ext cx="8780000" cy="22607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4-2강실습/notebooks/11_HNSW_계층.ipynb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HNSW — 계층과 이웃 선택의 효과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40000" y="760000"/>
            <a:ext cx="3414000" cy="388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 16,000개 · 16차원: 위층부터 recall 0.99, 0층부터(평면 NSW) 0.81</a:t>
            </a:r>
            <a:br/>
            <a:r>
              <a:rPr sz="1250"/>
              <a:t> -N 이 16배가 될 때 질의당 비교는 142 → 232회 (전수는 16배)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1250"/>
              <a:t>2.이웃 선택 휴리스틱이 결정적</a:t>
            </a:r>
            <a:br/>
            <a:r>
              <a:rPr sz="1250"/>
              <a:t> -다양성 휴리스틱 0.99 vs 가장 가까운 M개 0.72 (ef=32)</a:t>
            </a:r>
            <a:br/>
            <a:r>
              <a:rPr sz="1250"/>
              <a:t> -가까운 것만 고르면 이웃이 한 군집에 몰려 다리가 약해진다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1250"/>
              <a:t>3.ef ↑ → recall ↑ · 비용 ↑</a:t>
            </a:r>
            <a:br/>
            <a:r>
              <a:rPr sz="1250"/>
              <a:t> -ef 10: 0.88 / 137회 → ef 128: 1.00 / 360회</a:t>
            </a:r>
          </a:p>
        </p:txBody>
      </p:sp>
      <p:pic>
        <p:nvPicPr>
          <p:cNvPr id="4" name="Picture 3" descr="c10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0" y="760000"/>
            <a:ext cx="5400000" cy="33106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4-2강실습/notebooks/11_HNSW_계층.ipynb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IVF — k-means 와 경계 문제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1.질의는 A 영역, 진짜 최근접은 경계 너머 B 군집</a:t>
            </a:r>
            <a:br/>
            <a:r>
              <a:rPr sz="1250"/>
              <a:t> -nprobe=1 은 A 만 뒤져서 놓치고, nprobe=2 로 옆 군집까지 넣으면 찾는다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2.k-means 초기값 의존</a:t>
            </a:r>
            <a:br/>
            <a:r>
              <a:rPr sz="1250"/>
              <a:t> -시드 20개: 무작위 시작은 중심 두 개가 한 군집에 몰리는 실패가 생김</a:t>
            </a:r>
            <a:br/>
            <a:r>
              <a:rPr sz="1250"/>
              <a:t> -k-means++ 는 먼 점을 중심으로 골라 실패가 드물다</a:t>
            </a:r>
          </a:p>
        </p:txBody>
      </p:sp>
      <p:pic>
        <p:nvPicPr>
          <p:cNvPr id="4" name="Picture 3" descr="c09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78" y="760000"/>
            <a:ext cx="5281443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4-2강실습/notebooks/12_IVF_kmeans.ipynb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IVF — nlist · nprobe · 학습 비용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 32차원 2만 개: nlist ≈ √N(141) 곡선이 같은 비용에서 recall 이 가장 높다</a:t>
            </a:r>
            <a:br/>
            <a:r>
              <a:rPr sz="1250"/>
              <a:t> -너무 작으면(20) 군집이 커서 비싸고, 너무 크면(600) 경계가 많아 recall ↓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2.군집 크기 불균형: 1 ~ 348개</a:t>
            </a:r>
            <a:br/>
            <a:r>
              <a:rPr sz="1250"/>
              <a:t> -큰 리스트를 뒤지는 질의만 느려진다 — 슬라이드 '검색 성능 들쭉날쭉'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3.학습 시간 ∝ N·k·d·T, 10% 표본으로 학습해도 recall 0.84 → 0.83</a:t>
            </a:r>
          </a:p>
        </p:txBody>
      </p:sp>
      <p:pic>
        <p:nvPicPr>
          <p:cNvPr id="4" name="Picture 3" descr="c1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09" y="760000"/>
            <a:ext cx="7273582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4-2강실습/notebooks/12_IVF_kmeans.ipynb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PQ — 8바이트 코드와 거리표(LUT)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2863675"/>
            <a:ext cx="8900000" cy="1796325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 64차원 → 8조각 × 256 대표점 → 벡터 1개 = 8바이트 (256B 의 1/32)</a:t>
            </a:r>
            <a:br/>
            <a:r>
              <a:rPr sz="1250"/>
              <a:t> -'8차원 압축'이 아니라 8바이트 코드 — 차원 축소와 다르다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2.질의 하나로 8×256 거리표를 만들고, 레코드마다 8칸을 더한다</a:t>
            </a:r>
            <a:br/>
            <a:r>
              <a:rPr sz="1250"/>
              <a:t> -표 조회 합 144.55 = 복원 벡터와의 거리 144.55 (정확히 같다: 거리²는 조각별 합)</a:t>
            </a:r>
            <a:br/>
            <a:r>
              <a:rPr sz="1250"/>
              <a:t> -원본과의 실제 거리 187.2 — 이 차이가 압축 손실</a:t>
            </a:r>
          </a:p>
        </p:txBody>
      </p:sp>
      <p:pic>
        <p:nvPicPr>
          <p:cNvPr id="4" name="Picture 3" descr="c0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00" y="760000"/>
            <a:ext cx="8780000" cy="20636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4-2강실습/notebooks/13_PQ_ADC.ipynb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PQ — 원본 재정렬과 잔차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1.PQ 만으로는 recall 0.31 → 후보 100개 재정렬 0.88 · 500개 1.00</a:t>
            </a:r>
            <a:br/>
            <a:r>
              <a:rPr sz="1250"/>
              <a:t> -m=16(16B) + 재정렬 100 이면 1.00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2.잔차(벡터 − 군집 중심)를 압축하면 같은 8바이트로 오차 29.6 → 18.8</a:t>
            </a:r>
            <a:br/>
            <a:r>
              <a:rPr sz="1250"/>
              <a:t> -IVF-PQ: 군집 고르기 → 잔차 코드로 LUT 비교 → 원본 재정렬</a:t>
            </a:r>
          </a:p>
        </p:txBody>
      </p:sp>
      <p:pic>
        <p:nvPicPr>
          <p:cNvPr id="4" name="Picture 3" descr="c11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00" y="760000"/>
            <a:ext cx="7767599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4-2강실습/notebooks/13_PQ_ADC.ipynb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76050" y="1767925"/>
            <a:ext cx="6591900" cy="572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>
                <a:latin typeface="Gugi"/>
                <a:ea typeface="Gugi"/>
                <a:cs typeface="Gugi"/>
              </a:rPr>
              <a:t>pgvector 인덱스 측정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벡터 10만 개와 정답지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1.군집형 vec_clu (중심 200개) · 무구조형 vec_iso (등방 가우시안), 각 10만 × 128차원</a:t>
            </a:r>
            <a:br/>
            <a:r>
              <a:rPr sz="1250"/>
              <a:t> -질의 200개 · numpy 전수 비교로 정답 top-100 → vec_gt</a:t>
            </a:r>
            <a:br/>
            <a:r>
              <a:rPr sz="1250"/>
              <a:t> -PG 전수 정렬(Seq Scan, 약 13ms)과 정답지 일치 확인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2.최근접 / 평균 거리: 군집형 0.59 · 무구조형 0.77</a:t>
            </a:r>
            <a:br/>
            <a:r>
              <a:rPr sz="1250"/>
              <a:t> -고차원에서는 모든 점이 비슷하게 멀다(거리 집중) → 인덱스의 단서가 약해진다</a:t>
            </a:r>
          </a:p>
        </p:txBody>
      </p:sp>
      <p:pic>
        <p:nvPicPr>
          <p:cNvPr id="4" name="Picture 3" descr="c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08" y="760000"/>
            <a:ext cx="8315384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4-2강실습/notebooks/20_pgvector_데이터와정답지.ipynb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HNSW — ef_search 와 데이터 구조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1.빌드 5초 · 인덱스 79MB &gt; 테이블 56MB (벡터 복사본 + 이웃 목록)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2.기본 ef_search=40: 군집형 recall 0.91 · 무구조형 0.40</a:t>
            </a:r>
            <a:br/>
            <a:r>
              <a:rPr sz="1250"/>
              <a:t> -같은 설정이라도 데이터에 따라 크게 다르다 → 내 데이터로 재고 정한다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3.vector_l2_ops 인덱스는 &lt;-&gt; 에만 쓰인다</a:t>
            </a:r>
            <a:br/>
            <a:r>
              <a:rPr sz="1250"/>
              <a:t> -&lt;=&gt;(코사인)로 물으면 Seq Scan — 인덱스는 빌드한 척도 하나에 묶인다</a:t>
            </a:r>
          </a:p>
        </p:txBody>
      </p:sp>
      <p:pic>
        <p:nvPicPr>
          <p:cNvPr id="4" name="Picture 3" descr="c07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37" y="760000"/>
            <a:ext cx="7040926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4-2강실습/notebooks/21_pgvector_HNSW.ipynb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HNSW — m · 함정 · 실시간 추가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2647364"/>
            <a:ext cx="8900000" cy="2012636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1.m 4 · 8 · 16 · 32 → recall 0.28 · 0.72 · 0.92 · 0.97, 인덱스 65 → 98MB</a:t>
            </a:r>
            <a:br/>
            <a:r>
              <a:rPr sz="1250"/>
              <a:t> -m 이 너무 작으면 그래프가 약하다 (10번의 섬)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2.LIMIT 100 인데 ef_search=40 이면 40행만 온다 — 오류도 경고도 없음</a:t>
            </a:r>
            <a:br/>
            <a:r>
              <a:rPr sz="1250"/>
              <a:t> -재정렬용 후보를 넉넉히 받으려면 ef_search ≥ LIMIT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3.INSERT 즉시 검색된다, 삭제는 표시 후 VACUUM 이 수선</a:t>
            </a:r>
          </a:p>
        </p:txBody>
      </p:sp>
      <p:pic>
        <p:nvPicPr>
          <p:cNvPr id="4" name="Picture 3" descr="c11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00" y="760000"/>
            <a:ext cx="8780000" cy="18473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4-2강실습/notebooks/21_pgvector_HNSW.ipynb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IVFFlat vs HNSW — 승자는 데이터가 정한다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1.probes=1(기본값) 군집형 recall 0.86 — 기본값 그대로 쓰지 말 것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2.군집형: IVFFlat(lists=316, probes=4)이 recall 1.0 으로 HNSW 기본값보다 낫다</a:t>
            </a:r>
            <a:br/>
            <a:r>
              <a:rPr sz="1250"/>
              <a:t> -k-means 중심이 진짜 군집과 일치 — 슬라이드 '범주가 뚜렷하면 IVF'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3.무구조형: probes=64 로 316개 중 64개를 뒤져도 0.67</a:t>
            </a:r>
            <a:br/>
            <a:r>
              <a:rPr sz="1250"/>
              <a:t> -군집이 없으면 '가까운 군집' ≠ '가까운 이웃' — HNSW 가 낫다</a:t>
            </a:r>
          </a:p>
        </p:txBody>
      </p:sp>
      <p:pic>
        <p:nvPicPr>
          <p:cNvPr id="4" name="Picture 3" descr="c05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87" y="760000"/>
            <a:ext cx="7353225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4-2강실습/notebooks/22_pgvector_IVFFlat.ipynb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IVFFlat — 분포가 바뀌면 중심이 낡는다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40000" y="760000"/>
            <a:ext cx="3414000" cy="388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1.군집 100개일 때 인덱스를 만들고 나머지 100개 군집의 데이터를 INSERT</a:t>
            </a:r>
            <a:br/>
            <a:r>
              <a:rPr sz="1250"/>
              <a:t> -새 벡터는 옛 중심 중 가까운 리스트에 들어갈 뿐, 중심은 다시 학습하지 않는다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1250"/>
              <a:t>2.새 군집에 정답이 있는 질의 recall 0.49 → REINDEX(0.8초) 후 1.00</a:t>
            </a:r>
            <a:br/>
            <a:r>
              <a:rPr sz="1250"/>
              <a:t> -빈 테이블에 IVFFlat 을 먼저 만들고 데이터를 넣지 말 것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1250"/>
              <a:t>3.빌드: lists 100 · 316 → 0.5 · 0.8초, 1265 → 8초 (k-means 비용 N·k·d·T)</a:t>
            </a:r>
          </a:p>
        </p:txBody>
      </p:sp>
      <p:pic>
        <p:nvPicPr>
          <p:cNvPr id="4" name="Picture 3" descr="c07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0" y="760000"/>
            <a:ext cx="5400000" cy="2796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4-2강실습/notebooks/22_pgvector_IVFFlat.ipynb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양자화 — halfvec · 1비트 + 원본 재정렬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1.pgvector 에는 PQ 가 없다 → 표현식 인덱스로 스칼라 양자화</a:t>
            </a:r>
            <a:br/>
            <a:r>
              <a:rPr sz="1062">
                <a:solidFill>
                  <a:srgbClr val="009CA6"/>
                </a:solidFill>
                <a:latin typeface="Roboto Mono"/>
                <a:ea typeface="Roboto Mono"/>
                <a:cs typeface="Roboto Mono"/>
              </a:rPr>
              <a:t>   USING hnsw ((emb::halfvec(128)) halfvec_l2_ops)</a:t>
            </a:r>
            <a:br/>
            <a:r>
              <a:rPr sz="1062">
                <a:solidFill>
                  <a:srgbClr val="009CA6"/>
                </a:solidFill>
                <a:latin typeface="Roboto Mono"/>
                <a:ea typeface="Roboto Mono"/>
                <a:cs typeface="Roboto Mono"/>
              </a:rPr>
              <a:t>   USING hnsw ((binary_quantize(emb)::bit(128)) bit_hamming_ops)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2.halfvec 54MB(−31%) recall 0.981 ≈ float32 0.985 — 가장 손쉬운 절감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3. 1비트 30MB 는 단독 0.15 → 후보 400개를 원본으로 재정렬하면 0.975 (2ms)</a:t>
            </a:r>
            <a:br/>
            <a:r>
              <a:rPr sz="1250"/>
              <a:t> -인덱스는 작게(RAM), 정확도는 원본으로 — IVF-PQ 의 재정렬과 같은 원리</a:t>
            </a:r>
          </a:p>
        </p:txBody>
      </p:sp>
      <p:pic>
        <p:nvPicPr>
          <p:cNvPr id="4" name="Picture 3" descr="c07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222" y="760000"/>
            <a:ext cx="7979555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4-2강실습/notebooks/23_pgvector_양자화.ipynb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필터 + 벡터 — Pre · Post · iterative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011328"/>
            <a:ext cx="8900000" cy="1648672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 1% 필터 + HNSW: LIMIT 10 에 평균 0.4행 (PostFilter 함정)</a:t>
            </a:r>
            <a:br/>
            <a:r>
              <a:rPr sz="1250"/>
              <a:t> -ef_search 40개 후보 중 필터를 통과한 것만 남는다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2.B-tree 가 있어도 플래너는 HNSW 를 고른다 → PreFilter 는 직접</a:t>
            </a:r>
            <a:br/>
            <a:r>
              <a:rPr sz="1062">
                <a:solidFill>
                  <a:srgbClr val="009CA6"/>
                </a:solidFill>
                <a:latin typeface="Roboto Mono"/>
                <a:ea typeface="Roboto Mono"/>
                <a:cs typeface="Roboto Mono"/>
              </a:rPr>
              <a:t>   WITH c AS MATERIALIZED (SELECT … WHERE tag &lt; 1) SELECT … ORDER BY emb &lt;-&gt; q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3.SET hnsw.iterative_scan = relaxed_order : 1% 필터도 10행</a:t>
            </a:r>
            <a:br/>
            <a:r>
              <a:rPr sz="1250"/>
              <a:t> -지연시간이 선택도에 따라 교차 — 좁으면 PreFilter, 중간은 iterative, 넓으면 사후 필터</a:t>
            </a:r>
          </a:p>
        </p:txBody>
      </p:sp>
      <p:pic>
        <p:nvPicPr>
          <p:cNvPr id="4" name="Picture 3" descr="c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00" y="760000"/>
            <a:ext cx="8780000" cy="2211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4-2강실습/notebooks/24_pgvector_필터.ipynb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필터 적합성 · 부분 인덱스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2732704"/>
            <a:ext cx="8900000" cy="1927296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1.선택도가 같아도(0.5%) 필터가 질의와 같은 방향이면 쉽다</a:t>
            </a:r>
            <a:br/>
            <a:r>
              <a:rPr sz="1250"/>
              <a:t> -가까운 군집 필터: 사후 필터로도 9행 · 0.8ms</a:t>
            </a:r>
            <a:br/>
            <a:r>
              <a:rPr sz="1250"/>
              <a:t> -먼 군집 필터: iterative 로도 recall 0.27 · 26ms (탐색 상한 2만 행까지 헤맨다)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2.부분 인덱스: CREATE INDEX … USING hnsw (emb) WHERE tag = 7</a:t>
            </a:r>
            <a:br/>
            <a:r>
              <a:rPr sz="1250"/>
              <a:t> -recall 1.0 · 0.3ms — 4-1 의 '부분집합 그래프는 불가능'은 PG 에서는 가능</a:t>
            </a:r>
            <a:br/>
            <a:r>
              <a:rPr sz="1250"/>
              <a:t> -값이 적고 고정된 필터(테넌트 · 카테고리)에 쓴다</a:t>
            </a:r>
          </a:p>
        </p:txBody>
      </p:sp>
      <p:pic>
        <p:nvPicPr>
          <p:cNvPr id="4" name="Picture 3" descr="c1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00" y="760000"/>
            <a:ext cx="8780000" cy="1932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4-2강실습/notebooks/24_pgvector_필터.ipynb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76050" y="1767925"/>
            <a:ext cx="6591900" cy="572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>
                <a:latin typeface="Gugi"/>
                <a:ea typeface="Gugi"/>
                <a:cs typeface="Gugi"/>
              </a:rPr>
              <a:t>검색 품질 — 퓨전 · 분포 진단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점수 척도가 다르다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2827244"/>
            <a:ext cx="8900000" cy="1832756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1.KLUE-MRC 질문 500개(4-1 과 같은 표본), 각 방법 상위 50개</a:t>
            </a:r>
            <a:br/>
            <a:r>
              <a:rPr sz="1250"/>
              <a:t> -BM25 0.938 / 0.838 · 벡터(지문 통째) 0.386 / 0.208 · 벡터(250자 청크) 0.500 / 0.317  (Hit@10 / MRR)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2.BM25 5~72, 코사인 0.45~0.96 → 그냥 더하면 BM25 가 다 정한다</a:t>
            </a:r>
            <a:br/>
            <a:r>
              <a:rPr sz="1250"/>
              <a:t> -한쪽 목록에만 있는 문서는 다른 쪽 점수가 아예 없다</a:t>
            </a:r>
          </a:p>
        </p:txBody>
      </p:sp>
      <p:pic>
        <p:nvPicPr>
          <p:cNvPr id="4" name="Picture 3" descr="c05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00" y="760000"/>
            <a:ext cx="8780000" cy="20272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4-2강실습/notebooks/30_퓨전_RRF_MinMax.ipynb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RRF — 순위만 쓴다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 1/(k+rank) 는 쌍곡선: 변곡점이 없고 k 는 앞 순위 쏠림 정도만 정한다</a:t>
            </a:r>
            <a:br/>
            <a:r>
              <a:rPr sz="1250"/>
              <a:t> -k=0 이면 10위가 1위의 1/10, k=60 이면 0.87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2.흔한 k=60 은 MRR 0.839 → 0.639</a:t>
            </a:r>
            <a:br/>
            <a:r>
              <a:rPr sz="1250"/>
              <a:t> -약한 벡터 목록과 동등하게 섞기 때문 (4-1 25번과 같은 현상)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3.k=1 → 0.940 / 0.796, BM25 가중치 5 → 0.950 / 0.751</a:t>
            </a:r>
            <a:br/>
            <a:r>
              <a:rPr sz="1250"/>
              <a:t> -Hit@10 은 회복하지만 MRR 은 BM25 단독을 넘지 못한다</a:t>
            </a:r>
          </a:p>
        </p:txBody>
      </p:sp>
      <p:pic>
        <p:nvPicPr>
          <p:cNvPr id="4" name="Picture 3" descr="c09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18" y="760000"/>
            <a:ext cx="8370163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4-2강실습/notebooks/30_퓨전_RRF_MinMax.ipynb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Min-Max 와 종합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1.Min-Max α=0.7 : Hit@10 0.954 · MRR 0.844 — BM25 단독을 넘은 유일한 조합</a:t>
            </a:r>
            <a:br/>
            <a:r>
              <a:rPr sz="1250"/>
              <a:t> -점수 크기를 살려서, BM25 가 확신하는 질문은 두고 애매한 질문만 벡터가 바꾼다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2.약점: 1위가 압도적이면 나머지가 0 근처로 눌린다 · α 는 데이터마다 다시 찾는다</a:t>
            </a:r>
            <a:br/>
            <a:r>
              <a:rPr sz="1250"/>
              <a:t> -평가셋을 나눠 고르고 확인해야 과적합을 피한다</a:t>
            </a:r>
          </a:p>
        </p:txBody>
      </p:sp>
      <p:pic>
        <p:nvPicPr>
          <p:cNvPr id="4" name="Picture 3" descr="c16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866" y="760000"/>
            <a:ext cx="6222267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4-2강실습/notebooks/30_퓨전_RRF_MinMax.ipynb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유사도 곡선과 무릎점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1.맞힌 질문은 1위가 튀어나온 곡선, 틀린 질문은 밋밋한 곡선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2.무릎점 세 방법 (질문 500개)</a:t>
            </a:r>
            <a:br/>
            <a:r>
              <a:rPr sz="1250"/>
              <a:t> -최대 간격 · 2차 차분: 대부분 1~2위 뒤에서 자름 — 2차 차분은 가끔 중간 요철에 반응</a:t>
            </a:r>
            <a:br/>
            <a:r>
              <a:rPr sz="1250"/>
              <a:t> -Kneedle: 평균 12개를 남기고 정답이 남는 비율 0.52 (간격 0.33)</a:t>
            </a:r>
          </a:p>
        </p:txBody>
      </p:sp>
      <p:pic>
        <p:nvPicPr>
          <p:cNvPr id="4" name="Picture 3" descr="c05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00" y="760000"/>
            <a:ext cx="8554000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4-2강실습/notebooks/31_분포진단.ipynb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분리도 = 품질 신호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1.분리도 = 1위 점수 − 2~10위 평균</a:t>
            </a:r>
            <a:br/>
            <a:r>
              <a:rPr sz="1250"/>
              <a:t> -맞힌 질문의 분리도가 뚜렷하게 크다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2.분리도 상위 20% 만 답하면 벡터 1위 정확도 0.25 → 약 0.7</a:t>
            </a:r>
            <a:br/>
            <a:r>
              <a:rPr sz="1250"/>
              <a:t> -BM25 도 같은 경향 (상위 40% 에서 거의 1.0)</a:t>
            </a:r>
            <a:br/>
            <a:r>
              <a:rPr sz="1250"/>
              <a:t> -낮으면 '모르겠다' · BM25 로 넘기기 · 질의 재작성 — 정답셋 없이 운영 중에 잴 수 있다</a:t>
            </a:r>
          </a:p>
        </p:txBody>
      </p:sp>
      <p:pic>
        <p:nvPicPr>
          <p:cNvPr id="4" name="Picture 3" descr="c07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00" y="760000"/>
            <a:ext cx="8554000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4-2강실습/notebooks/31_분포진단.ipynb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필터 적합성 — 틀린 필터는 유사도로 드러난다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2827244"/>
            <a:ext cx="8900000" cy="1832756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1.뉴스 질문 200개: 필터 없음 · 정답 분야 필터 · 엉뚱한 분야 필터</a:t>
            </a:r>
            <a:br/>
            <a:r>
              <a:rPr sz="1250"/>
              <a:t> -맞는 필터 Hit@10 0.45 → 0.71 (후보가 수백 개로 줄어든다)</a:t>
            </a:r>
            <a:br/>
            <a:r>
              <a:rPr sz="1250"/>
              <a:t> -틀린 필터는 1위 유사도부터 급락 — 슬라이드 '유사도가 낮으면 시맨틱 불일치'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2.유사도 절대값은 믿을 수 없다</a:t>
            </a:r>
            <a:br/>
            <a:r>
              <a:rPr sz="1250"/>
              <a:t> -관련 없는 질문–청크 쌍도 코사인 평균 0.15 (이방성) — 고정 임계값보다 곡선 모양</a:t>
            </a:r>
          </a:p>
        </p:txBody>
      </p:sp>
      <p:pic>
        <p:nvPicPr>
          <p:cNvPr id="4" name="Picture 3" descr="c11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00" y="760000"/>
            <a:ext cx="8780000" cy="20272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4-2강실습/notebooks/31_분포진단.ipynb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코퍼스 분포 — 허브 지문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000" y="3150000"/>
            <a:ext cx="8900000" cy="1510000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/>
              <a:t>1.벡터 검색: 지문 하나가 질문 21개의 top-10 에 등장 (BM25 는 최대 6)</a:t>
            </a:r>
            <a:br/>
            <a:r>
              <a:rPr sz="1250"/>
              <a:t> -질문과 상관없이 '평균적으로 비슷한' 허브가 다양성을 떨어뜨리고 정답을 밀어낸다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50"/>
              <a:t>2.출처 분포: 벡터 1위의 한국경제 비율 65% vs 정답 55%</a:t>
            </a:r>
            <a:br/>
            <a:r>
              <a:rPr sz="1250"/>
              <a:t> -결과가 한쪽 출처로 쏠리면 코퍼스 · 청킹 구성을 점검 — 슬라이드 '코퍼스 커버리지'</a:t>
            </a:r>
          </a:p>
        </p:txBody>
      </p:sp>
      <p:pic>
        <p:nvPicPr>
          <p:cNvPr id="4" name="Picture 3" descr="c13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00" y="760000"/>
            <a:ext cx="8554000" cy="23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3"/>
              </a:rPr>
              <a:t>4-2강실습/notebooks/31_분포진단.ipynb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76050" y="1767925"/>
            <a:ext cx="6591900" cy="572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>
                <a:latin typeface="Gugi"/>
                <a:ea typeface="Gugi"/>
                <a:cs typeface="Gugi"/>
              </a:rPr>
              <a:t>정리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강의 슬라이드와 비교해 볼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0000" y="780000"/>
          <a:ext cx="8700000" cy="3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000"/>
                <a:gridCol w="5400000"/>
              </a:tblGrid>
              <a:tr h="3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슬라이드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실습 결과</a:t>
                      </a:r>
                    </a:p>
                  </a:txBody>
                  <a:tcPr marT="30000" marB="30000">
                    <a:solidFill>
                      <a:srgbClr val="FF7043"/>
                    </a:solidFill>
                  </a:tcPr>
                </a:tc>
              </a:tr>
              <a:tr h="35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같은 속도에서 recall 은 HNSW 가 최고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데이터에 따라 다르다. 군집이 뚜렷하면 IVFFlat 이 낫다 (22번)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범주가 뚜렷하면 IVF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맞다. 범주가 없으면 IVF 는 특히 크게 무너진다 (0.67 @ probes 64)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이웃 = 가장 가까운 M개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실제는 다양성 휴리스틱: 0.99 vs 0.72 (11번)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HNSW 는 metric-agnostic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만든 인덱스는 척도 하나에 묶인다: &lt;=&gt; 는 L2 인덱스 못 탐 (21번)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512차원을 8차원으로 압축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8차원 벡터가 아니라 8바이트 코드 (13번)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RRF 의 k 로 변곡점 조절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1/(k+rank) 에는 변곡점이 없다. k 는 쏠림 정도 (30번)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2차 미분으로 변곡점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이산 점수에서는 잡음에 민감. 간격 · Kneedle 도 함께 (31번)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부분집합 그래프는 불가능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D484A"/>
                          </a:solidFill>
                        </a:rPr>
                        <a:t>PG 부분 인덱스로 가능: recall 1.0 (24번)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2"/>
              </a:rPr>
              <a:t>4-2강실습/README.md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정리와 문제 해결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/>
              <a:t>1.끝나면</a:t>
            </a:r>
            <a:br/>
            <a:r>
              <a:rPr sz="1275">
                <a:solidFill>
                  <a:srgbClr val="009CA6"/>
                </a:solidFill>
                <a:latin typeface="Roboto Mono"/>
                <a:ea typeface="Roboto Mono"/>
                <a:cs typeface="Roboto Mono"/>
              </a:rPr>
              <a:t>   docker compose down        # 컨테이너만 정지 (데이터 유지)</a:t>
            </a:r>
            <a:br/>
            <a:r>
              <a:rPr sz="1275">
                <a:solidFill>
                  <a:srgbClr val="009CA6"/>
                </a:solidFill>
                <a:latin typeface="Roboto Mono"/>
                <a:ea typeface="Roboto Mono"/>
                <a:cs typeface="Roboto Mono"/>
              </a:rPr>
              <a:t>   docker compose down -v     # 데이터까지 삭제</a:t>
            </a: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500"/>
              <a:t>2.자주 겪는 문제</a:t>
            </a:r>
            <a:br/>
            <a:r>
              <a:rPr sz="1500"/>
              <a:t> -recall 이 모든 설정에서 같다 → 다른 노트북이 남긴 인덱스. 첫 셀부터 다시</a:t>
            </a:r>
            <a:br/>
            <a:r>
              <a:rPr sz="1500"/>
              <a:t> -30번 'KLUE 준비' 오류 → 00번 진행 확인 셀 · prepare.log</a:t>
            </a:r>
            <a:br/>
            <a:r>
              <a:rPr sz="1500"/>
              <a:t> -그래프 한글이 □ → docker compose build jupyter</a:t>
            </a:r>
          </a:p>
          <a:p>
            <a: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500"/>
              <a:t>3.과제</a:t>
            </a:r>
            <a:br/>
            <a:r>
              <a:rPr sz="1500"/>
              <a:t> -21 · 22번을 합성 벡터 대신 KLUE 청크 임베딩(384차원)으로 반복해 보기</a:t>
            </a:r>
            <a:br/>
            <a:r>
              <a:rPr sz="1500"/>
              <a:t> -31번의 분리도가 낮은 질문만 BM25 로 넘기는 라우터를 만들고 Hit@10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375" y="4700000"/>
            <a:ext cx="8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757575"/>
                </a:solidFill>
                <a:latin typeface="Roboto Mono"/>
                <a:ea typeface="Roboto Mono"/>
                <a:cs typeface="Roboto Mono"/>
              </a:rPr>
              <a:t>GitHub ▸ </a:t>
            </a:r>
            <a:r>
              <a:rPr sz="1100">
                <a:solidFill>
                  <a:srgbClr val="009CA6"/>
                </a:solidFill>
                <a:latin typeface="Roboto Mono"/>
                <a:ea typeface="Roboto Mono"/>
                <a:cs typeface="Roboto Mono"/>
                <a:hlinkClick r:id="rId2"/>
              </a:rPr>
              <a:t>4-2강실습/README.md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